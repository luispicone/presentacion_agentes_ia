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68" r:id="rId14"/>
    <p:sldId id="262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 snapToObjects="1">
      <p:cViewPr varScale="1">
        <p:scale>
          <a:sx n="110" d="100"/>
          <a:sy n="110" d="100"/>
        </p:scale>
        <p:origin x="5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280-DA57-0C4F-AA1F-3A1D22F2C44B}" type="datetimeFigureOut">
              <a:rPr lang="es-AR" smtClean="0"/>
              <a:t>18/5/26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35F60-7F7F-8043-A288-5DFE0C8A539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056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E35F60-7F7F-8043-A288-5DFE0C8A5392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026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138160" y="-137160"/>
            <a:ext cx="685800" cy="7269480"/>
          </a:xfrm>
          <a:prstGeom prst="parallelogram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823960" y="-137160"/>
            <a:ext cx="685800" cy="7269480"/>
          </a:xfrm>
          <a:prstGeom prst="parallelogram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9509760" y="-137160"/>
            <a:ext cx="685800" cy="7269480"/>
          </a:xfrm>
          <a:prstGeom prst="parallelogram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195560" y="-137160"/>
            <a:ext cx="685800" cy="7269480"/>
          </a:xfrm>
          <a:prstGeom prst="parallelogram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292608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828800"/>
            <a:ext cx="7178040" cy="1417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373739"/>
                </a:solidFill>
                <a:latin typeface="Aptos"/>
              </a:rPr>
              <a:t>IA organizacional:
de información confiable a agentes gobernados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6309360" cy="5943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sz="1850" b="0">
                <a:solidFill>
                  <a:srgbClr val="69696C"/>
                </a:solidFill>
                <a:latin typeface="Aptos"/>
              </a:rPr>
              <a:t>Cómo preparar documentación, datos y procesos para incorporar IA con valor real.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664708"/>
            <a:ext cx="4297680" cy="237744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1250" b="0" dirty="0">
                <a:solidFill>
                  <a:srgbClr val="69696C"/>
                </a:solidFill>
                <a:latin typeface="Aptos"/>
              </a:rPr>
              <a:t>Luis Picone · EXCELENCIA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814D468C-1474-2DC3-9567-04BD43F93980}"/>
              </a:ext>
            </a:extLst>
          </p:cNvPr>
          <p:cNvSpPr txBox="1"/>
          <p:nvPr/>
        </p:nvSpPr>
        <p:spPr>
          <a:xfrm>
            <a:off x="749808" y="5943600"/>
            <a:ext cx="4297680" cy="237744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lang="es-ES" sz="1250" b="0" dirty="0">
                <a:solidFill>
                  <a:srgbClr val="69696C"/>
                </a:solidFill>
                <a:latin typeface="Aptos"/>
              </a:rPr>
              <a:t>Nadia Yagüe </a:t>
            </a:r>
            <a:r>
              <a:rPr sz="1250" b="0" dirty="0">
                <a:solidFill>
                  <a:srgbClr val="69696C"/>
                </a:solidFill>
                <a:latin typeface="Aptos"/>
              </a:rPr>
              <a:t>· EXCELENCIA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La tesis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3144" y="1965960"/>
            <a:ext cx="4846320" cy="141732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175" y="2167128"/>
            <a:ext cx="4334256" cy="1033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73739"/>
                </a:solidFill>
                <a:latin typeface="Aptos"/>
              </a:rPr>
              <a:t>La IA no empieza por el algoritmo ni por el agente. Empieza por la calidad de la información sobre la que va a trabajar.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144" y="1965960"/>
            <a:ext cx="73152" cy="14173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56664" y="1874519"/>
            <a:ext cx="1828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56664" y="1874519"/>
            <a:ext cx="73152" cy="24688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5264" y="2039112"/>
            <a:ext cx="141732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Documentación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5264" y="2487168"/>
            <a:ext cx="1417320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Vigente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trazable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fiel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a la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realidad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operativa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9783" y="1874519"/>
            <a:ext cx="1828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59783" y="1874519"/>
            <a:ext cx="73152" cy="24688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8384" y="2039112"/>
            <a:ext cx="14173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8384" y="2487168"/>
            <a:ext cx="1417320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Íntegros, consistentes, comparables y gobernados.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2902" y="1874519"/>
            <a:ext cx="18288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62904" y="1874519"/>
            <a:ext cx="73152" cy="246888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91504" y="2039112"/>
            <a:ext cx="914400" cy="32004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373739"/>
                </a:solidFill>
                <a:latin typeface="Aptos"/>
              </a:rPr>
              <a:t>Gobierno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1503" y="2487168"/>
            <a:ext cx="1325301" cy="17190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Fuentes, permisos, criterios y validación.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584" y="3977639"/>
            <a:ext cx="52120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650">
                <a:solidFill>
                  <a:srgbClr val="373739"/>
                </a:solidFill>
                <a:latin typeface="Aptos"/>
              </a:defRPr>
            </a:pPr>
            <a:r>
              <a:rPr dirty="0"/>
              <a:t>• Sin base </a:t>
            </a:r>
            <a:r>
              <a:rPr dirty="0" err="1"/>
              <a:t>confiable</a:t>
            </a:r>
            <a:r>
              <a:rPr dirty="0"/>
              <a:t>, la IA </a:t>
            </a:r>
            <a:r>
              <a:rPr dirty="0" err="1"/>
              <a:t>amplifica</a:t>
            </a:r>
            <a:r>
              <a:rPr dirty="0"/>
              <a:t> </a:t>
            </a:r>
            <a:r>
              <a:rPr dirty="0" err="1"/>
              <a:t>inconsistencias</a:t>
            </a:r>
            <a:r>
              <a:rPr dirty="0"/>
              <a:t>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650">
                <a:solidFill>
                  <a:srgbClr val="373739"/>
                </a:solidFill>
                <a:latin typeface="Aptos"/>
              </a:defRPr>
            </a:pPr>
            <a:r>
              <a:rPr dirty="0"/>
              <a:t>• Con base </a:t>
            </a:r>
            <a:r>
              <a:rPr dirty="0" err="1"/>
              <a:t>confiable</a:t>
            </a:r>
            <a:r>
              <a:rPr dirty="0"/>
              <a:t>, 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acelerar</a:t>
            </a: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, </a:t>
            </a:r>
            <a:r>
              <a:rPr dirty="0" err="1"/>
              <a:t>trazabilidad</a:t>
            </a:r>
            <a:r>
              <a:rPr dirty="0"/>
              <a:t> y </a:t>
            </a:r>
            <a:r>
              <a:rPr dirty="0" err="1"/>
              <a:t>decisiones</a:t>
            </a:r>
            <a:r>
              <a:rPr dirty="0"/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BASE DOCUMENTAL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Antes de IA: documentación fiel a la realidad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7492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La documentación debe representar cómo opera realmente la organización.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Los repositorios deben ser robustos, actualizados, accesibles y trazables.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Una IA puede responder con forma profesional aunque la fuente sea débil.</a:t>
            </a:r>
          </a:p>
          <a:p>
            <a:pPr>
              <a:lnSpc>
                <a:spcPct val="104000"/>
              </a:lnSpc>
              <a:spcAft>
                <a:spcPts val="900"/>
              </a:spcAft>
              <a:defRPr sz="1700">
                <a:solidFill>
                  <a:srgbClr val="373739"/>
                </a:solidFill>
                <a:latin typeface="Aptos"/>
              </a:defRPr>
            </a:pPr>
            <a:r>
              <a:t>• Si el proceso real y el documentado no coinciden, la IA trabaja sobre una ficción ordenada.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754880" cy="11430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066545"/>
            <a:ext cx="4242816" cy="758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La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primera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pregunta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no es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IA usar.</a:t>
            </a:r>
            <a:endParaRPr lang="es-ES" sz="1600" b="1" dirty="0">
              <a:solidFill>
                <a:srgbClr val="373739"/>
              </a:solidFill>
              <a:latin typeface="Aptos"/>
            </a:endParaRPr>
          </a:p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Es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si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existe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confiable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para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que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la IA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pueda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trabajar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73152" cy="114300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3703320"/>
            <a:ext cx="73152" cy="13258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867911"/>
            <a:ext cx="434340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Riesgo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ejecutivo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43116" y="4206239"/>
            <a:ext cx="4343400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Decisiones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apoyadas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en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documentos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no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vigentes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evidencia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difícil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auditar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pérdida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confianza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por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problemas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INTEGRIDAD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Datos íntegros: la otra mitad de la base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192024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Completos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Cobertura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suficiente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para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analizar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sin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sesgos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críticos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6160" y="1874519"/>
            <a:ext cx="73152" cy="192024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039112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Consistentes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Mismas reglas, definiciones y criterios entre áreas.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874519"/>
            <a:ext cx="73152" cy="192024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2039112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Trazables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Origen, responsable, actualización y evidencia.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74519"/>
            <a:ext cx="2514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874519"/>
            <a:ext cx="73152" cy="192024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2039112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Gobernados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487168"/>
            <a:ext cx="210312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Permisos, usos, controles y validación.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434840"/>
            <a:ext cx="9966960" cy="96012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53312" y="4636007"/>
            <a:ext cx="9454896" cy="57607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>
              <a:lnSpc>
                <a:spcPct val="105000"/>
              </a:lnSpc>
            </a:pPr>
            <a:r>
              <a:rPr sz="1800" b="1" dirty="0">
                <a:solidFill>
                  <a:srgbClr val="373739"/>
                </a:solidFill>
                <a:latin typeface="Aptos"/>
              </a:rPr>
              <a:t>La IA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puede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acelerar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análisis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 pero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no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puede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reemplazar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responsabilidad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organizacional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sobre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calidad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de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los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datos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434840"/>
            <a:ext cx="73152" cy="9601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El riesgo de incorporar IA sobre una base débil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8686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272284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Automatizar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errores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existentes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0559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1874519"/>
            <a:ext cx="73152" cy="8686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59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9764" y="2188598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9696C"/>
                </a:solidFill>
                <a:latin typeface="Aptos"/>
              </a:rPr>
              <a:t>Dar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velocidad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a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procesos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mal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definidos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83879" y="1874519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73152" cy="86868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3084" y="2199132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9696C"/>
                </a:solidFill>
                <a:latin typeface="Aptos"/>
              </a:rPr>
              <a:t>Usar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documentos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no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vigentes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como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fuente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verdad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108960"/>
            <a:ext cx="73152" cy="86868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139" y="3572295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Mezclar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criterios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entre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áreas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80559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3108960"/>
            <a:ext cx="73152" cy="86868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59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9764" y="3453423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Exponer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información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sensible sin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permisos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claros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1089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3108960"/>
            <a:ext cx="73152" cy="86868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27355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3083" y="3429000"/>
            <a:ext cx="2834639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Generar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respuestas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difíciles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validar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60120" y="4983480"/>
            <a:ext cx="10149840" cy="74980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16152" y="5184648"/>
            <a:ext cx="9637776" cy="36575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lnSpc>
                <a:spcPct val="105000"/>
              </a:lnSpc>
            </a:pPr>
            <a:r>
              <a:rPr sz="1800" b="1" dirty="0">
                <a:solidFill>
                  <a:srgbClr val="373739"/>
                </a:solidFill>
                <a:latin typeface="Aptos"/>
              </a:rPr>
              <a:t>Sin </a:t>
            </a:r>
            <a:r>
              <a:rPr lang="es-ES" sz="1800" b="1" dirty="0">
                <a:solidFill>
                  <a:srgbClr val="373739"/>
                </a:solidFill>
                <a:latin typeface="Aptos"/>
              </a:rPr>
              <a:t>una 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base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confiable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, la IA no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transforma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organización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: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amplifica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sus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inconsistencias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983480"/>
            <a:ext cx="73152" cy="74980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ROL DE EXCELENCIA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Dónde puede ayudar EXCELENCIA antes del agente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73152" cy="164592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Diagnosticar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madurez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documental y de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datos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18688" y="2729484"/>
            <a:ext cx="3200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0" y="2148840"/>
            <a:ext cx="73152" cy="164592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Ordenar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repositorios, procesos y fuentes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2148840"/>
            <a:ext cx="73152" cy="164592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Gobernar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criterios, permisos, validación y riesgos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14884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26880" y="2148840"/>
            <a:ext cx="73152" cy="164592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55480" y="2313432"/>
            <a:ext cx="19202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Priorizar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761488"/>
            <a:ext cx="1920239" cy="896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casos de uso por valor y criticidad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4617720"/>
            <a:ext cx="10149840" cy="822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35023" y="4674870"/>
            <a:ext cx="9637776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b="1" dirty="0">
                <a:solidFill>
                  <a:srgbClr val="373739"/>
                </a:solidFill>
                <a:latin typeface="Aptos"/>
              </a:rPr>
              <a:t>Antes de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diseñar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agentes</a:t>
            </a:r>
            <a:r>
              <a:rPr b="1" dirty="0">
                <a:solidFill>
                  <a:srgbClr val="373739"/>
                </a:solidFill>
                <a:latin typeface="Aptos"/>
              </a:rPr>
              <a:t>, hay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que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preparar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terreno</a:t>
            </a:r>
            <a:r>
              <a:rPr b="1" dirty="0">
                <a:solidFill>
                  <a:srgbClr val="373739"/>
                </a:solidFill>
                <a:latin typeface="Aptos"/>
              </a:rPr>
              <a:t>:</a:t>
            </a:r>
            <a:endParaRPr lang="es-ES" b="1" dirty="0">
              <a:solidFill>
                <a:srgbClr val="373739"/>
              </a:solidFill>
              <a:latin typeface="Aptos"/>
            </a:endParaRPr>
          </a:p>
          <a:p>
            <a:pPr algn="ctr">
              <a:lnSpc>
                <a:spcPct val="105000"/>
              </a:lnSpc>
            </a:pPr>
            <a:r>
              <a:rPr lang="es-ES" b="1" dirty="0">
                <a:solidFill>
                  <a:srgbClr val="373739"/>
                </a:solidFill>
                <a:latin typeface="Aptos"/>
              </a:rPr>
              <a:t>D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ocumentación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 – D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atos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 - 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P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rocesos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 - C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riterios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-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G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obierno</a:t>
            </a:r>
            <a:r>
              <a:rPr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617720"/>
            <a:ext cx="73152" cy="8229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B2024E6E-D3BB-63D3-6742-A99DE9BF30D4}"/>
              </a:ext>
            </a:extLst>
          </p:cNvPr>
          <p:cNvSpPr txBox="1"/>
          <p:nvPr/>
        </p:nvSpPr>
        <p:spPr>
          <a:xfrm>
            <a:off x="8955159" y="2729484"/>
            <a:ext cx="3200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36" name="TextBox 12">
            <a:extLst>
              <a:ext uri="{FF2B5EF4-FFF2-40B4-BE49-F238E27FC236}">
                <a16:creationId xmlns:a16="http://schemas.microsoft.com/office/drawing/2014/main" id="{A7D51D4B-0221-4874-829C-2147ACA846F1}"/>
              </a:ext>
            </a:extLst>
          </p:cNvPr>
          <p:cNvSpPr txBox="1"/>
          <p:nvPr/>
        </p:nvSpPr>
        <p:spPr>
          <a:xfrm>
            <a:off x="6069725" y="2729484"/>
            <a:ext cx="3200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MADUREZ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De usar IA a diseñar Agentes de IA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874519"/>
            <a:ext cx="73152" cy="242316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Uso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puntual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de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9696C"/>
                </a:solidFill>
                <a:latin typeface="Aptos"/>
              </a:rPr>
              <a:t>Una persona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pregunta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obtiene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una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respuesta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resuelve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una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tarea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aislada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73152" cy="242316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IA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asistida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con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buena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La organización usa fuentes confiables y criterios comunes.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73152" cy="24231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2834639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Agente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de IA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gobernado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2487168"/>
            <a:ext cx="2834639" cy="1673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Sistema diseñado para una tarea o proceso, con propósito, fuentes, reglas, herramientas, límites, trazabilidad, validación y métricas.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92040"/>
            <a:ext cx="9555480" cy="74980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3605" y="4901185"/>
            <a:ext cx="9043415" cy="3657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1" dirty="0">
                <a:solidFill>
                  <a:srgbClr val="373739"/>
                </a:solidFill>
                <a:latin typeface="Aptos"/>
              </a:rPr>
              <a:t>El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agente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no es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primer paso. Es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paso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superador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cuando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organización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ya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sabe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,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proceso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criterio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quiere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gobernar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4892040"/>
            <a:ext cx="73152" cy="74980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ALCANCE POTENCIAL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Procesos donde la IA puede agregar valor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Dirección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gobierno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828800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Estrategia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planeamiento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815083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739"/>
                </a:solidFill>
                <a:latin typeface="Aptos"/>
              </a:rPr>
              <a:t>Calidad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sistemas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de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gestión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81160" y="1828800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1965960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Operaciones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seguridad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2715768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Comercial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clientes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1188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8" y="2715768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Finanzas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2715768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73739"/>
                </a:solidFill>
                <a:latin typeface="Aptos"/>
              </a:rPr>
              <a:t>Legales y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578608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90888" y="2715768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373739"/>
                </a:solidFill>
                <a:latin typeface="Aptos"/>
              </a:rPr>
              <a:t>Personas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cultura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3465575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Tecnología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sistemas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1188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21608" y="3465575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Compras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proveedores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4652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3342132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Comunicación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400" b="1" dirty="0" err="1">
                <a:solidFill>
                  <a:srgbClr val="373739"/>
                </a:solidFill>
                <a:latin typeface="Aptos"/>
              </a:rPr>
              <a:t>sostenibilidad</a:t>
            </a:r>
            <a:endParaRPr sz="14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281160" y="3328415"/>
            <a:ext cx="2450592" cy="502920"/>
          </a:xfrm>
          <a:prstGeom prst="roundRect">
            <a:avLst/>
          </a:prstGeom>
          <a:solidFill>
            <a:srgbClr val="F4F6F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90888" y="3465575"/>
            <a:ext cx="22311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dirty="0" err="1">
                <a:solidFill>
                  <a:srgbClr val="373739"/>
                </a:solidFill>
                <a:latin typeface="Aptos"/>
              </a:rPr>
              <a:t>Gestión</a:t>
            </a:r>
            <a:r>
              <a:rPr sz="1400" b="1" dirty="0">
                <a:solidFill>
                  <a:srgbClr val="373739"/>
                </a:solidFill>
                <a:latin typeface="Aptos"/>
              </a:rPr>
              <a:t> documental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754880"/>
            <a:ext cx="10149840" cy="84124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16152" y="4886598"/>
            <a:ext cx="9637776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1" dirty="0">
                <a:solidFill>
                  <a:srgbClr val="373739"/>
                </a:solidFill>
                <a:latin typeface="Aptos"/>
              </a:rPr>
              <a:t>La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pregunta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relevante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no es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si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la IA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puede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aportar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valor,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sino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necesita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,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tarea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conviene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delegar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, con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autonomía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y con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controles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4754880"/>
            <a:ext cx="73152" cy="84124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 dirty="0">
                <a:solidFill>
                  <a:srgbClr val="00ADB5"/>
                </a:solidFill>
                <a:latin typeface="Aptos"/>
              </a:rPr>
              <a:t>CASO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2700" b="1" dirty="0">
                <a:solidFill>
                  <a:srgbClr val="373739"/>
                </a:solidFill>
                <a:latin typeface="Aptos"/>
              </a:rPr>
              <a:t>Ejemplos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·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Documentación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,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calidad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, ISO y PNC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001843"/>
            <a:ext cx="566928" cy="566928"/>
          </a:xfrm>
          <a:prstGeom prst="ellipse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5" y="2101008"/>
            <a:ext cx="3200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956124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Base documental
analizable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3306" y="2157292"/>
            <a:ext cx="256032" cy="182880"/>
          </a:xfrm>
          <a:prstGeom prst="rect">
            <a:avLst/>
          </a:prstGeom>
          <a:noFill/>
        </p:spPr>
        <p:txBody>
          <a:bodyPr wrap="square">
            <a:normAutofit fontScale="40000" lnSpcReduction="20000"/>
          </a:bodyPr>
          <a:lstStyle/>
          <a:p>
            <a:pPr algn="l">
              <a:lnSpc>
                <a:spcPct val="100000"/>
              </a:lnSpc>
            </a:pPr>
            <a:endParaRPr sz="1800" b="1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819650" y="2001843"/>
            <a:ext cx="566928" cy="566928"/>
          </a:xfrm>
          <a:prstGeom prst="ellipse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47665" y="2101008"/>
            <a:ext cx="3200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882" y="1956124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373739"/>
                </a:solidFill>
                <a:latin typeface="Aptos"/>
              </a:rPr>
              <a:t>Cruce contra
ISO y</a:t>
            </a:r>
            <a:r>
              <a:rPr lang="es-ES" sz="1450" b="1" dirty="0">
                <a:solidFill>
                  <a:srgbClr val="373739"/>
                </a:solidFill>
                <a:latin typeface="Aptos"/>
              </a:rPr>
              <a:t>/o</a:t>
            </a:r>
            <a:r>
              <a:rPr sz="1450" b="1" dirty="0">
                <a:solidFill>
                  <a:srgbClr val="373739"/>
                </a:solidFill>
                <a:latin typeface="Aptos"/>
              </a:rPr>
              <a:t> PNC</a:t>
            </a:r>
          </a:p>
        </p:txBody>
      </p:sp>
      <p:sp>
        <p:nvSpPr>
          <p:cNvPr id="17" name="Oval 16"/>
          <p:cNvSpPr/>
          <p:nvPr/>
        </p:nvSpPr>
        <p:spPr>
          <a:xfrm>
            <a:off x="6481245" y="2001843"/>
            <a:ext cx="566928" cy="566928"/>
          </a:xfrm>
          <a:prstGeom prst="ellipse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9261" y="2101008"/>
            <a:ext cx="3200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4477" y="1956124"/>
            <a:ext cx="1737360" cy="640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Evidencias, brechas
y oportunidades</a:t>
            </a:r>
          </a:p>
        </p:txBody>
      </p:sp>
      <p:sp>
        <p:nvSpPr>
          <p:cNvPr id="21" name="Oval 20"/>
          <p:cNvSpPr/>
          <p:nvPr/>
        </p:nvSpPr>
        <p:spPr>
          <a:xfrm>
            <a:off x="9385913" y="2001843"/>
            <a:ext cx="566928" cy="56692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3929" y="2101008"/>
            <a:ext cx="3200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9145" y="1956124"/>
            <a:ext cx="17373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739"/>
                </a:solidFill>
                <a:latin typeface="Aptos"/>
              </a:rPr>
              <a:t>Validación
experta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154680"/>
            <a:ext cx="4709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3154680"/>
            <a:ext cx="73152" cy="123444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319272"/>
            <a:ext cx="429768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373739"/>
                </a:solidFill>
                <a:latin typeface="Aptos"/>
              </a:rPr>
              <a:t>Sistemas de Gestión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767328"/>
            <a:ext cx="4297680" cy="4846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Requisitos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evidencia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cobertura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brechas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acciones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cierre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154680"/>
            <a:ext cx="4709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154680"/>
            <a:ext cx="73152" cy="123444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319272"/>
            <a:ext cx="429768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373739"/>
                </a:solidFill>
                <a:latin typeface="Aptos"/>
              </a:rPr>
              <a:t>Modelo de Gestión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lang="es-ES" sz="1600" b="1" dirty="0">
                <a:solidFill>
                  <a:srgbClr val="373739"/>
                </a:solidFill>
                <a:latin typeface="Aptos"/>
              </a:rPr>
              <a:t>(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PNC</a:t>
            </a:r>
            <a:r>
              <a:rPr lang="es-ES" sz="1600" b="1" dirty="0">
                <a:solidFill>
                  <a:srgbClr val="373739"/>
                </a:solidFill>
                <a:latin typeface="Aptos"/>
              </a:rPr>
              <a:t>)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3767328"/>
            <a:ext cx="4297680" cy="48463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Modelo de excelencia, fortalezas, oportunidades de mejora e insumos de evaluación.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" y="4892040"/>
            <a:ext cx="10149840" cy="74980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27727" y="4989032"/>
            <a:ext cx="9637776" cy="3657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b="1" dirty="0">
                <a:solidFill>
                  <a:srgbClr val="373739"/>
                </a:solidFill>
                <a:latin typeface="Aptos"/>
              </a:rPr>
              <a:t>La IA no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reemplaza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criterio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experto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,</a:t>
            </a:r>
            <a:r>
              <a:rPr b="1" dirty="0">
                <a:solidFill>
                  <a:srgbClr val="373739"/>
                </a:solidFill>
                <a:latin typeface="Aptos"/>
              </a:rPr>
              <a:t> lo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potencia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cuando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trabaja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sobre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documentación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confiable</a:t>
            </a:r>
            <a:r>
              <a:rPr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892040"/>
            <a:ext cx="73152" cy="74980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2">
            <a:extLst>
              <a:ext uri="{FF2B5EF4-FFF2-40B4-BE49-F238E27FC236}">
                <a16:creationId xmlns:a16="http://schemas.microsoft.com/office/drawing/2014/main" id="{3AE34F31-1AD6-580C-9024-0A68A2440DDF}"/>
              </a:ext>
            </a:extLst>
          </p:cNvPr>
          <p:cNvSpPr txBox="1">
            <a:spLocks noChangeAspect="1"/>
          </p:cNvSpPr>
          <p:nvPr/>
        </p:nvSpPr>
        <p:spPr>
          <a:xfrm>
            <a:off x="3380738" y="2115305"/>
            <a:ext cx="216000" cy="1542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FF0728B1-FA3C-0BC7-96AB-6F7A82AE39BD}"/>
              </a:ext>
            </a:extLst>
          </p:cNvPr>
          <p:cNvSpPr txBox="1">
            <a:spLocks noChangeAspect="1"/>
          </p:cNvSpPr>
          <p:nvPr/>
        </p:nvSpPr>
        <p:spPr>
          <a:xfrm>
            <a:off x="5977125" y="2115305"/>
            <a:ext cx="216000" cy="1542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1BFCF24C-0357-78BE-0AA1-E9D2EAE4F252}"/>
              </a:ext>
            </a:extLst>
          </p:cNvPr>
          <p:cNvSpPr txBox="1">
            <a:spLocks noChangeAspect="1"/>
          </p:cNvSpPr>
          <p:nvPr/>
        </p:nvSpPr>
        <p:spPr>
          <a:xfrm>
            <a:off x="9000052" y="2115305"/>
            <a:ext cx="216000" cy="1542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CASO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2700" b="1" dirty="0">
                <a:solidFill>
                  <a:srgbClr val="373739"/>
                </a:solidFill>
                <a:latin typeface="Aptos"/>
              </a:rPr>
              <a:t>Sistemas de Gestión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ISO ·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Matriz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de </a:t>
            </a:r>
            <a:r>
              <a:rPr lang="es-ES" sz="2700" b="1" dirty="0">
                <a:solidFill>
                  <a:srgbClr val="373739"/>
                </a:solidFill>
                <a:latin typeface="Aptos"/>
              </a:rPr>
              <a:t>G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aps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819766"/>
            <a:ext cx="2514600" cy="13714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819766"/>
            <a:ext cx="73152" cy="1371489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903334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Alcance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316665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10 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R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equisitos</a:t>
            </a:r>
            <a:endParaRPr lang="es-ES" sz="1200" dirty="0">
              <a:solidFill>
                <a:srgbClr val="69696C"/>
              </a:solidFill>
              <a:latin typeface="Aptos"/>
            </a:endParaRPr>
          </a:p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ISO</a:t>
            </a:r>
            <a:r>
              <a:rPr lang="es-AR" sz="1200" b="0" dirty="0">
                <a:solidFill>
                  <a:srgbClr val="69696C"/>
                </a:solidFill>
                <a:latin typeface="Aptos"/>
              </a:rPr>
              <a:t> 9001 – 1</a:t>
            </a:r>
            <a:r>
              <a:rPr lang="es-AR" sz="1200" dirty="0">
                <a:solidFill>
                  <a:srgbClr val="69696C"/>
                </a:solidFill>
                <a:latin typeface="Aptos"/>
              </a:rPr>
              <a:t>4001 - 45001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40" y="1819766"/>
            <a:ext cx="2514600" cy="13714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0440" y="1819766"/>
            <a:ext cx="73152" cy="1371489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190333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6180" y="2250104"/>
            <a:ext cx="2103120" cy="913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3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cubiertos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7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parciales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endParaRPr lang="es-ES" sz="1200" b="0" dirty="0">
              <a:solidFill>
                <a:srgbClr val="69696C"/>
              </a:solidFill>
              <a:latin typeface="Aptos"/>
            </a:endParaRPr>
          </a:p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La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matriz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distingue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evidencia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suficiente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y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brechas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documentales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19766"/>
            <a:ext cx="2514600" cy="13714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819766"/>
            <a:ext cx="72000" cy="140400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90333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Evidencias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16665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P</a:t>
            </a:r>
            <a:r>
              <a:rPr lang="es-ES" sz="1200" b="0" dirty="0" err="1">
                <a:solidFill>
                  <a:srgbClr val="69696C"/>
                </a:solidFill>
                <a:latin typeface="Aptos"/>
              </a:rPr>
              <a:t>rocedimientos</a:t>
            </a:r>
            <a:r>
              <a:rPr lang="es-ES" sz="1200" dirty="0" err="1">
                <a:solidFill>
                  <a:srgbClr val="69696C"/>
                </a:solidFill>
                <a:latin typeface="Aptos"/>
              </a:rPr>
              <a:t>:Gestión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 de Riesgos. Aspectos e Impactos.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Peligros y Riesgos. Gestión de Mejora Continua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06840" y="1819766"/>
            <a:ext cx="2514600" cy="13714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06840" y="1819767"/>
            <a:ext cx="73152" cy="136800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903334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373739"/>
                </a:solidFill>
                <a:latin typeface="Aptos"/>
              </a:rPr>
              <a:t>Entregable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35440" y="2316665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Faltan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registros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 y/o 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matrices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integradas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para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aspectos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SST,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objetivos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SIG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cambios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493008"/>
            <a:ext cx="1170432" cy="283464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499140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Aptos"/>
              </a:rPr>
              <a:t>Cubierto</a:t>
            </a:r>
            <a:endParaRPr sz="1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154973" y="3518009"/>
            <a:ext cx="4473616" cy="3120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373739"/>
                </a:solidFill>
                <a:latin typeface="Aptos"/>
              </a:rPr>
              <a:t>Riesgos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y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oportunidades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;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requisitos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legales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;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planificación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acciones</a:t>
            </a:r>
            <a:endParaRPr sz="1100" b="0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" y="3895344"/>
            <a:ext cx="1170432" cy="283464"/>
          </a:xfrm>
          <a:prstGeom prst="round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3901477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4972" y="3931920"/>
            <a:ext cx="4108667" cy="2237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373739"/>
                </a:solidFill>
                <a:latin typeface="Aptos"/>
              </a:rPr>
              <a:t>Aspectos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ambientales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;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peligros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/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riesgos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/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oportunidades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SST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297680"/>
            <a:ext cx="1170432" cy="283464"/>
          </a:xfrm>
          <a:prstGeom prst="round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303813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Parcial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4973" y="4345831"/>
            <a:ext cx="3703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73739"/>
                </a:solidFill>
                <a:latin typeface="Aptos"/>
              </a:rPr>
              <a:t>Objetivos del sistema y planificación para lograrlos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700016"/>
            <a:ext cx="1170432" cy="283464"/>
          </a:xfrm>
          <a:prstGeom prst="round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706149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Parcial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54972" y="4667142"/>
            <a:ext cx="4337267" cy="16887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 err="1">
                <a:solidFill>
                  <a:srgbClr val="373739"/>
                </a:solidFill>
                <a:latin typeface="Aptos"/>
              </a:rPr>
              <a:t>Gestión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del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cambio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: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consecuencias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recursos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responsables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impactos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SST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47201" y="3518009"/>
            <a:ext cx="3892527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47201" y="3518009"/>
            <a:ext cx="73152" cy="157276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75801" y="3682601"/>
            <a:ext cx="3206726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Valor del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agente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75801" y="4050558"/>
            <a:ext cx="3590581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Identifica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documentos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evidencia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. U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bica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secciones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citas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o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registros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. P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ropone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cobertura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o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brecha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. J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ustifica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el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criterio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. O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rdena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acciones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cierre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conserva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trazabilidad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para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validación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experta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9705" y="5440680"/>
            <a:ext cx="10469880" cy="697272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7092" y="5421018"/>
            <a:ext cx="9957815" cy="93406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s-ES" b="1" dirty="0">
                <a:solidFill>
                  <a:srgbClr val="373739"/>
                </a:solidFill>
                <a:latin typeface="Aptos"/>
              </a:rPr>
              <a:t>E</a:t>
            </a:r>
            <a:r>
              <a:rPr b="1" dirty="0">
                <a:solidFill>
                  <a:srgbClr val="373739"/>
                </a:solidFill>
                <a:latin typeface="Aptos"/>
              </a:rPr>
              <a:t>l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agente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acelera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lectura</a:t>
            </a:r>
            <a:r>
              <a:rPr b="1" dirty="0">
                <a:solidFill>
                  <a:srgbClr val="373739"/>
                </a:solidFill>
                <a:latin typeface="Aptos"/>
              </a:rPr>
              <a:t>,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cruce</a:t>
            </a:r>
            <a:r>
              <a:rPr b="1" dirty="0">
                <a:solidFill>
                  <a:srgbClr val="373739"/>
                </a:solidFill>
                <a:latin typeface="Aptos"/>
              </a:rPr>
              <a:t> y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trazabilidad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.</a:t>
            </a:r>
          </a:p>
          <a:p>
            <a:pPr algn="ctr">
              <a:lnSpc>
                <a:spcPct val="105000"/>
              </a:lnSpc>
            </a:pPr>
            <a:r>
              <a:rPr lang="es-ES" b="1" dirty="0">
                <a:solidFill>
                  <a:srgbClr val="373739"/>
                </a:solidFill>
                <a:latin typeface="Aptos"/>
              </a:rPr>
              <a:t>E</a:t>
            </a:r>
            <a:r>
              <a:rPr b="1" dirty="0">
                <a:solidFill>
                  <a:srgbClr val="373739"/>
                </a:solidFill>
                <a:latin typeface="Aptos"/>
              </a:rPr>
              <a:t>l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experto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conserva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criterio</a:t>
            </a:r>
            <a:r>
              <a:rPr b="1" dirty="0">
                <a:solidFill>
                  <a:srgbClr val="373739"/>
                </a:solidFill>
                <a:latin typeface="Aptos"/>
              </a:rPr>
              <a:t> de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cobertura</a:t>
            </a:r>
            <a:r>
              <a:rPr b="1" dirty="0">
                <a:solidFill>
                  <a:srgbClr val="373739"/>
                </a:solidFill>
                <a:latin typeface="Aptos"/>
              </a:rPr>
              <a:t> y la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decisión</a:t>
            </a:r>
            <a:r>
              <a:rPr b="1" dirty="0">
                <a:solidFill>
                  <a:srgbClr val="373739"/>
                </a:solidFill>
                <a:latin typeface="Aptos"/>
              </a:rPr>
              <a:t> final.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9705" y="5440680"/>
            <a:ext cx="73152" cy="69727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CASO APLICADO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2700" b="1" dirty="0">
                <a:solidFill>
                  <a:srgbClr val="373739"/>
                </a:solidFill>
                <a:latin typeface="Aptos"/>
              </a:rPr>
              <a:t>Modelo de Gestión (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PNC</a:t>
            </a:r>
            <a:r>
              <a:rPr lang="es-ES" sz="2700" b="1" dirty="0">
                <a:solidFill>
                  <a:srgbClr val="373739"/>
                </a:solidFill>
                <a:latin typeface="Aptos"/>
              </a:rPr>
              <a:t>)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·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Matriz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de gaps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727172"/>
            <a:ext cx="25146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727172"/>
            <a:ext cx="73152" cy="135331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89176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Alcance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258795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b="0" dirty="0">
                <a:solidFill>
                  <a:srgbClr val="69696C"/>
                </a:solidFill>
                <a:latin typeface="Aptos"/>
              </a:rPr>
              <a:t>Criterio 1 Liderazgo</a:t>
            </a:r>
          </a:p>
          <a:p>
            <a:pPr algn="ctr">
              <a:lnSpc>
                <a:spcPct val="100000"/>
              </a:lnSpc>
            </a:pPr>
            <a:r>
              <a:rPr lang="es-ES" sz="1200" b="0" dirty="0">
                <a:solidFill>
                  <a:srgbClr val="69696C"/>
                </a:solidFill>
                <a:latin typeface="Aptos"/>
              </a:rPr>
              <a:t>Factor 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1.3: 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P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laneamiento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estratégico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operativo</a:t>
            </a:r>
            <a:endParaRPr lang="es-ES" sz="1200" b="0" dirty="0">
              <a:solidFill>
                <a:srgbClr val="69696C"/>
              </a:solidFill>
              <a:latin typeface="Aptos"/>
            </a:endParaRPr>
          </a:p>
          <a:p>
            <a:pPr algn="ctr">
              <a:lnSpc>
                <a:spcPct val="100000"/>
              </a:lnSpc>
            </a:pPr>
            <a:r>
              <a:rPr lang="es-ES" sz="1200" b="0" dirty="0">
                <a:solidFill>
                  <a:srgbClr val="69696C"/>
                </a:solidFill>
                <a:latin typeface="Aptos"/>
              </a:rPr>
              <a:t>Aspectos: 9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40" y="1727172"/>
            <a:ext cx="25146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0440" y="1727172"/>
            <a:ext cx="73152" cy="135331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189176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39820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9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cubiertos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0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parciales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0 no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cubiertos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según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evidencia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documental 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disponible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27172"/>
            <a:ext cx="25146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727172"/>
            <a:ext cx="73152" cy="135331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891764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Evidencias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70370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Estrategia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Sustentabilidad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Finanzas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Personas,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Riesgos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Comunicaciones 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Innovación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727172"/>
            <a:ext cx="25146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06840" y="1727172"/>
            <a:ext cx="73152" cy="135331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1891764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 err="1">
                <a:solidFill>
                  <a:srgbClr val="373739"/>
                </a:solidFill>
                <a:latin typeface="Aptos"/>
              </a:rPr>
              <a:t>Entegrable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35440" y="2339820"/>
            <a:ext cx="2103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Cobertura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por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aspecto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+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fuente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documental para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revisión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experta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493008"/>
            <a:ext cx="1170432" cy="283464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499140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Cubierto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541159"/>
            <a:ext cx="412394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373739"/>
                </a:solidFill>
                <a:latin typeface="Aptos"/>
              </a:rPr>
              <a:t>a-b: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horizonte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decisoria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y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objetivos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estratégicos</a:t>
            </a:r>
            <a:endParaRPr sz="1100" b="0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" y="3895344"/>
            <a:ext cx="1170432" cy="283464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" y="3901477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Cubierto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3931920"/>
            <a:ext cx="4500468" cy="2468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373739"/>
                </a:solidFill>
                <a:latin typeface="Aptos"/>
              </a:rPr>
              <a:t>c-d: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innovación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y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despliegue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objetivos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en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planes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operativos</a:t>
            </a:r>
            <a:endParaRPr sz="1100" b="0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68680" y="4297680"/>
            <a:ext cx="1170432" cy="283464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4303813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Cubierto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4334256"/>
            <a:ext cx="370332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373739"/>
                </a:solidFill>
                <a:latin typeface="Aptos"/>
              </a:rPr>
              <a:t>e-g: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riesgos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recursos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indicadores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clave de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desempeño</a:t>
            </a:r>
            <a:endParaRPr sz="1100" b="0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700016"/>
            <a:ext cx="1170432" cy="283464"/>
          </a:xfrm>
          <a:prstGeom prst="round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706149"/>
            <a:ext cx="1042415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Cubierto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2848" y="4736592"/>
            <a:ext cx="43962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373739"/>
                </a:solidFill>
                <a:latin typeface="Aptos"/>
              </a:rPr>
              <a:t>h-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i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: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comunicación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estrategias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y 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revisión</a:t>
            </a:r>
            <a:r>
              <a:rPr sz="1100" b="0" dirty="0">
                <a:solidFill>
                  <a:srgbClr val="373739"/>
                </a:solidFill>
                <a:latin typeface="Aptos"/>
              </a:rPr>
              <a:t> de planes/</a:t>
            </a:r>
            <a:r>
              <a:rPr sz="1100" b="0" dirty="0" err="1">
                <a:solidFill>
                  <a:srgbClr val="373739"/>
                </a:solidFill>
                <a:latin typeface="Aptos"/>
              </a:rPr>
              <a:t>objetivos</a:t>
            </a:r>
            <a:endParaRPr sz="1100" b="0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202350" y="3436293"/>
            <a:ext cx="4337378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02350" y="3436293"/>
            <a:ext cx="73152" cy="157276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30950" y="3600885"/>
            <a:ext cx="475488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Valor del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agente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30950" y="4048941"/>
            <a:ext cx="4017338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Lee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el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modelo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. O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rdena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evidencias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por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criterio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factor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aspecto</a:t>
            </a:r>
            <a:r>
              <a:rPr lang="es-ES" sz="1200" b="0" dirty="0">
                <a:solidFill>
                  <a:srgbClr val="69696C"/>
                </a:solidFill>
                <a:latin typeface="Aptos"/>
              </a:rPr>
              <a:t>. I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dentifica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cobertura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documental,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fuentes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trazabilidad</a:t>
            </a:r>
            <a:r>
              <a:rPr lang="es-ES" sz="1200" dirty="0">
                <a:solidFill>
                  <a:srgbClr val="69696C"/>
                </a:solidFill>
                <a:latin typeface="Aptos"/>
              </a:rPr>
              <a:t>. A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poya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diagnósticos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prepara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insumos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para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revisión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experta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440680"/>
            <a:ext cx="10469880" cy="56692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21308" y="5533165"/>
            <a:ext cx="9957815" cy="4104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ES" b="1" dirty="0">
                <a:solidFill>
                  <a:srgbClr val="373739"/>
                </a:solidFill>
                <a:latin typeface="Aptos"/>
              </a:rPr>
              <a:t>E</a:t>
            </a:r>
            <a:r>
              <a:rPr b="1" dirty="0">
                <a:solidFill>
                  <a:srgbClr val="373739"/>
                </a:solidFill>
                <a:latin typeface="Aptos"/>
              </a:rPr>
              <a:t>l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agente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ordena</a:t>
            </a:r>
            <a:r>
              <a:rPr b="1" dirty="0">
                <a:solidFill>
                  <a:srgbClr val="373739"/>
                </a:solidFill>
                <a:latin typeface="Aptos"/>
              </a:rPr>
              <a:t> la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cobertura</a:t>
            </a:r>
            <a:r>
              <a:rPr b="1" dirty="0">
                <a:solidFill>
                  <a:srgbClr val="373739"/>
                </a:solidFill>
                <a:latin typeface="Aptos"/>
              </a:rPr>
              <a:t> PNC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por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aspecto</a:t>
            </a:r>
            <a:r>
              <a:rPr lang="es-ES" b="1" dirty="0">
                <a:solidFill>
                  <a:srgbClr val="373739"/>
                </a:solidFill>
                <a:latin typeface="Aptos"/>
              </a:rPr>
              <a:t>. E</a:t>
            </a:r>
            <a:r>
              <a:rPr b="1" dirty="0">
                <a:solidFill>
                  <a:srgbClr val="373739"/>
                </a:solidFill>
                <a:latin typeface="Aptos"/>
              </a:rPr>
              <a:t>l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experto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conserva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b="1" dirty="0">
                <a:solidFill>
                  <a:srgbClr val="373739"/>
                </a:solidFill>
                <a:latin typeface="Aptos"/>
              </a:rPr>
              <a:t>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juicio</a:t>
            </a:r>
            <a:r>
              <a:rPr b="1" dirty="0">
                <a:solidFill>
                  <a:srgbClr val="373739"/>
                </a:solidFill>
                <a:latin typeface="Aptos"/>
              </a:rPr>
              <a:t> de </a:t>
            </a:r>
            <a:r>
              <a:rPr b="1" dirty="0" err="1">
                <a:solidFill>
                  <a:srgbClr val="373739"/>
                </a:solidFill>
                <a:latin typeface="Aptos"/>
              </a:rPr>
              <a:t>madurez</a:t>
            </a:r>
            <a:r>
              <a:rPr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440680"/>
            <a:ext cx="73152" cy="56692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VALOR TANGIBLE E INTANGIBLE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373739"/>
                </a:solidFill>
                <a:latin typeface="Aptos"/>
              </a:rPr>
              <a:t>Beneficios esperables en ISO y PNC</a:t>
            </a: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990269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990269"/>
            <a:ext cx="73152" cy="196596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154862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Tiempo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experto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707093"/>
            <a:ext cx="210312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69696C"/>
                </a:solidFill>
                <a:latin typeface="Aptos"/>
              </a:rPr>
              <a:t>Menos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tiempo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búsqueda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documental,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lectura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repetitiva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comparación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armado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matrices.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990269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990269"/>
            <a:ext cx="73152" cy="196596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39" y="2154862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Consistencia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07093"/>
            <a:ext cx="210312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9696C"/>
                </a:solidFill>
                <a:latin typeface="Aptos"/>
              </a:rPr>
              <a:t>Mismo criterio entre filas, menor variabilidad y estructura homogénea de análisis.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90269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1990269"/>
            <a:ext cx="73152" cy="196596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54862"/>
            <a:ext cx="2103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Trazabilidad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07093"/>
            <a:ext cx="210312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9696C"/>
                </a:solidFill>
                <a:latin typeface="Aptos"/>
              </a:rPr>
              <a:t>Requisito o criterio → evidencia → fuente → juicio experto → acción.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990269"/>
            <a:ext cx="2514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990269"/>
            <a:ext cx="73152" cy="196596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154862"/>
            <a:ext cx="21031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Foco directivo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07093"/>
            <a:ext cx="2103120" cy="9418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9696C"/>
                </a:solidFill>
                <a:latin typeface="Aptos"/>
              </a:rPr>
              <a:t>Más tiempo para validar, priorizar brechas, decidir y orientar planes de mejora.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705" y="4663440"/>
            <a:ext cx="10469880" cy="84124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2978" y="4876182"/>
            <a:ext cx="9957815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</a:pPr>
            <a:r>
              <a:rPr sz="1800" b="1" dirty="0">
                <a:solidFill>
                  <a:srgbClr val="373739"/>
                </a:solidFill>
                <a:latin typeface="Aptos"/>
              </a:rPr>
              <a:t>El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beneficio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no es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reemplazar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al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experto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: es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devolverle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tiempo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foco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para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decidir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373739"/>
                </a:solidFill>
                <a:latin typeface="Aptos"/>
              </a:rPr>
              <a:t>mejor</a:t>
            </a:r>
            <a:r>
              <a:rPr sz="1800" b="1" dirty="0">
                <a:solidFill>
                  <a:srgbClr val="373739"/>
                </a:solidFill>
                <a:latin typeface="Aptos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705" y="4663440"/>
            <a:ext cx="73152" cy="841248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SÍNTESIS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2700" b="1" dirty="0">
                <a:solidFill>
                  <a:srgbClr val="373739"/>
                </a:solidFill>
                <a:latin typeface="Aptos"/>
              </a:rPr>
              <a:t>L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a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secuencia</a:t>
            </a:r>
            <a:r>
              <a:rPr sz="2700" b="1" dirty="0">
                <a:solidFill>
                  <a:srgbClr val="373739"/>
                </a:solidFill>
                <a:latin typeface="Aptos"/>
              </a:rPr>
              <a:t> de </a:t>
            </a:r>
            <a:r>
              <a:rPr sz="2700" b="1" dirty="0" err="1">
                <a:solidFill>
                  <a:srgbClr val="373739"/>
                </a:solidFill>
                <a:latin typeface="Aptos"/>
              </a:rPr>
              <a:t>madurez</a:t>
            </a:r>
            <a:endParaRPr sz="2700" b="1" dirty="0">
              <a:solidFill>
                <a:srgbClr val="373739"/>
              </a:solidFill>
              <a:latin typeface="Aptos"/>
            </a:endParaRP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301627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301627"/>
            <a:ext cx="73152" cy="1417320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466219"/>
            <a:ext cx="25603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confiable</a:t>
            </a:r>
            <a:endParaRPr sz="1600" b="1" dirty="0">
              <a:solidFill>
                <a:srgbClr val="37373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2914275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69696C"/>
                </a:solidFill>
                <a:latin typeface="Aptos"/>
              </a:rPr>
              <a:t>documentación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vigente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+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datos</a:t>
            </a:r>
            <a:r>
              <a:rPr sz="14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69696C"/>
                </a:solidFill>
                <a:latin typeface="Aptos"/>
              </a:rPr>
              <a:t>íntegros</a:t>
            </a:r>
            <a:endParaRPr sz="14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0" y="2301627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301627"/>
            <a:ext cx="73152" cy="1417320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466219"/>
            <a:ext cx="25603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IA con gobierno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14275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fuentes, permisos, validación y trazabilidad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301627"/>
            <a:ext cx="2971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2301627"/>
            <a:ext cx="73152" cy="141732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2466219"/>
            <a:ext cx="256032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Agentes gobernados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914275"/>
            <a:ext cx="2560320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696C"/>
                </a:solidFill>
                <a:latin typeface="Aptos"/>
              </a:rPr>
              <a:t>tareas/procesos con métricas y resultados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96187"/>
            <a:ext cx="10241280" cy="91440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4697355"/>
            <a:ext cx="9729215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La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pregunta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lang="es-ES" sz="1600" b="1" dirty="0">
                <a:solidFill>
                  <a:srgbClr val="373739"/>
                </a:solidFill>
                <a:latin typeface="Aptos"/>
              </a:rPr>
              <a:t>clave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no es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solamente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qué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IA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vamos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a usar.</a:t>
            </a:r>
            <a:endParaRPr lang="es-ES" sz="1600" b="1" dirty="0">
              <a:solidFill>
                <a:srgbClr val="373739"/>
              </a:solidFill>
              <a:latin typeface="Aptos"/>
            </a:endParaRPr>
          </a:p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Es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si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tenemos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información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,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los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datos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y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gobierno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necesarios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para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que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la IA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cree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valor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496187"/>
            <a:ext cx="73152" cy="914400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07322795-C83E-3E8B-82F8-9F0C85559502}"/>
              </a:ext>
            </a:extLst>
          </p:cNvPr>
          <p:cNvSpPr txBox="1"/>
          <p:nvPr/>
        </p:nvSpPr>
        <p:spPr>
          <a:xfrm>
            <a:off x="4052067" y="2833657"/>
            <a:ext cx="3200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82B9884B-8AE9-C53A-500F-DB1E035C36CF}"/>
              </a:ext>
            </a:extLst>
          </p:cNvPr>
          <p:cNvSpPr txBox="1"/>
          <p:nvPr/>
        </p:nvSpPr>
        <p:spPr>
          <a:xfrm>
            <a:off x="7759629" y="2833657"/>
            <a:ext cx="3200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69696C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77724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ADB5"/>
                </a:solidFill>
                <a:latin typeface="Aptos"/>
              </a:rPr>
              <a:t>PROCESO DE ACOMPAÑAMIENTO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89611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AR" sz="2700" b="1" dirty="0">
                <a:solidFill>
                  <a:srgbClr val="373739"/>
                </a:solidFill>
                <a:latin typeface="Aptos"/>
              </a:rPr>
              <a:t>Acompañamiento de EXCELENCIA</a:t>
            </a:r>
            <a:endParaRPr sz="2700" b="1" dirty="0">
              <a:solidFill>
                <a:srgbClr val="373739"/>
              </a:solidFill>
              <a:latin typeface="Aptos"/>
            </a:endParaRPr>
          </a:p>
        </p:txBody>
      </p:sp>
      <p:pic>
        <p:nvPicPr>
          <p:cNvPr id="4" name="Picture 3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1481328"/>
            <a:ext cx="292608" cy="5029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42415" y="1481328"/>
            <a:ext cx="292608" cy="5029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26464" y="1481328"/>
            <a:ext cx="292608" cy="5029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10512" y="1481328"/>
            <a:ext cx="292608" cy="5029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847088"/>
            <a:ext cx="475488" cy="475488"/>
          </a:xfrm>
          <a:prstGeom prst="ellipse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898941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4168" y="1828800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44168" y="1828800"/>
            <a:ext cx="73152" cy="98755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1993392"/>
            <a:ext cx="2423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Diagnosticar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441448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madurez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documental y de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datos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80559" y="1847088"/>
            <a:ext cx="475488" cy="475488"/>
          </a:xfrm>
          <a:prstGeom prst="ellipse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5" y="1898941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1828800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47488" y="1828800"/>
            <a:ext cx="73152" cy="98755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1993392"/>
            <a:ext cx="2423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Ordenar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292482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repositorios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documentales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procesos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183879" y="1847088"/>
            <a:ext cx="475488" cy="475488"/>
          </a:xfrm>
          <a:prstGeom prst="ellipse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11896" y="1898941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50807" y="1828800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50807" y="1828800"/>
            <a:ext cx="73152" cy="987552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79407" y="1993392"/>
            <a:ext cx="2423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Asegurar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3123" y="2323965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fidelidad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entre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documentación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realidad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operativa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77240" y="3328416"/>
            <a:ext cx="475488" cy="47548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" y="3380269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44168" y="3310128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44168" y="3310128"/>
            <a:ext cx="73152" cy="987552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72768" y="3474720"/>
            <a:ext cx="2423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Definir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3767328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criterios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fuentes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verdad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gobierno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información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480559" y="3328416"/>
            <a:ext cx="475488" cy="475488"/>
          </a:xfrm>
          <a:prstGeom prst="ellipse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8575" y="3380269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47488" y="3310128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47488" y="3310128"/>
            <a:ext cx="73152" cy="987552"/>
          </a:xfrm>
          <a:prstGeom prst="rect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76088" y="3474720"/>
            <a:ext cx="242316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Identificar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53812" y="3794760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dirty="0" err="1">
                <a:solidFill>
                  <a:srgbClr val="69696C"/>
                </a:solidFill>
                <a:latin typeface="Aptos"/>
              </a:rPr>
              <a:t>casos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uso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de IA con valor real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gestión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excelencia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183879" y="3328416"/>
            <a:ext cx="475488" cy="475488"/>
          </a:xfrm>
          <a:prstGeom prst="ellipse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11896" y="3380269"/>
            <a:ext cx="219456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50807" y="3310128"/>
            <a:ext cx="2834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50807" y="3310128"/>
            <a:ext cx="73152" cy="987552"/>
          </a:xfrm>
          <a:prstGeom prst="rect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79407" y="3474720"/>
            <a:ext cx="2423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73739"/>
                </a:solidFill>
                <a:latin typeface="Aptos"/>
              </a:rPr>
              <a:t>Diseñar y gobernar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3123" y="3808476"/>
            <a:ext cx="2423160" cy="2377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1200" dirty="0">
                <a:solidFill>
                  <a:srgbClr val="69696C"/>
                </a:solidFill>
                <a:latin typeface="Aptos"/>
              </a:rPr>
              <a:t>a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gentes de IA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implementados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con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controles</a:t>
            </a:r>
            <a:r>
              <a:rPr sz="1200" b="0" dirty="0">
                <a:solidFill>
                  <a:srgbClr val="69696C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9696C"/>
                </a:solidFill>
                <a:latin typeface="Aptos"/>
              </a:rPr>
              <a:t>métricas</a:t>
            </a:r>
            <a:endParaRPr sz="1200" b="0" dirty="0">
              <a:solidFill>
                <a:srgbClr val="69696C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14400" y="5074920"/>
            <a:ext cx="10287000" cy="658368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70432" y="5067743"/>
            <a:ext cx="9774936" cy="7223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5000"/>
              </a:lnSpc>
            </a:pPr>
            <a:r>
              <a:rPr sz="1600" b="1" dirty="0">
                <a:solidFill>
                  <a:srgbClr val="373739"/>
                </a:solidFill>
                <a:latin typeface="Aptos"/>
              </a:rPr>
              <a:t>La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propuesta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no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empieza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ni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termina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en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el</a:t>
            </a:r>
            <a:r>
              <a:rPr sz="16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373739"/>
                </a:solidFill>
                <a:latin typeface="Aptos"/>
              </a:rPr>
              <a:t>agente</a:t>
            </a:r>
            <a:r>
              <a:rPr lang="es-ES" sz="1600" b="1" dirty="0">
                <a:solidFill>
                  <a:srgbClr val="373739"/>
                </a:solidFill>
                <a:latin typeface="Aptos"/>
              </a:rPr>
              <a:t>.</a:t>
            </a:r>
          </a:p>
          <a:p>
            <a:pPr algn="ctr">
              <a:lnSpc>
                <a:spcPct val="100000"/>
              </a:lnSpc>
            </a:pPr>
            <a:r>
              <a:rPr lang="es-AR" sz="1600" b="1" dirty="0">
                <a:solidFill>
                  <a:srgbClr val="373739"/>
                </a:solidFill>
                <a:latin typeface="Aptos"/>
              </a:rPr>
              <a:t>EXCELENCIA prepara la base confiable para IA y diseña agentes gobernados orientados a resultados.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5074920"/>
            <a:ext cx="73152" cy="658368"/>
          </a:xfrm>
          <a:prstGeom prst="rect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56482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641080" y="-137160"/>
            <a:ext cx="594360" cy="7269480"/>
          </a:xfrm>
          <a:prstGeom prst="parallelogram">
            <a:avLst/>
          </a:prstGeom>
          <a:solidFill>
            <a:srgbClr val="F6B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189720" y="-137160"/>
            <a:ext cx="594360" cy="7269480"/>
          </a:xfrm>
          <a:prstGeom prst="parallelogram">
            <a:avLst/>
          </a:prstGeom>
          <a:solidFill>
            <a:srgbClr val="EF6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9738360" y="-137160"/>
            <a:ext cx="594360" cy="7269480"/>
          </a:xfrm>
          <a:prstGeom prst="parallelogram">
            <a:avLst/>
          </a:prstGeom>
          <a:solidFill>
            <a:srgbClr val="D32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287000" y="-137160"/>
            <a:ext cx="594360" cy="7269480"/>
          </a:xfrm>
          <a:prstGeom prst="parallelogram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xcelenc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92608"/>
            <a:ext cx="2148840" cy="5372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777240"/>
            <a:ext cx="4114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ADB5"/>
                </a:solidFill>
                <a:latin typeface="Aptos"/>
              </a:rPr>
              <a:t>PREGUNTA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7315200" cy="18288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lnSpc>
                <a:spcPct val="95000"/>
              </a:lnSpc>
            </a:pPr>
            <a:r>
              <a:rPr sz="3000" b="1" dirty="0">
                <a:solidFill>
                  <a:srgbClr val="373739"/>
                </a:solidFill>
                <a:latin typeface="Aptos"/>
              </a:rPr>
              <a:t>Si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mañana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incorporáramos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IA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en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nuestros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procesos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críticos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, ¿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trabajaría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sobre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la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mejor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versión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de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nuestra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organización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o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sobre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nuestro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373739"/>
                </a:solidFill>
                <a:latin typeface="Aptos"/>
              </a:rPr>
              <a:t>desorden</a:t>
            </a:r>
            <a:r>
              <a:rPr sz="3000" b="1" dirty="0">
                <a:solidFill>
                  <a:srgbClr val="373739"/>
                </a:solidFill>
                <a:latin typeface="Aptos"/>
              </a:rPr>
              <a:t> documental?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46520"/>
            <a:ext cx="402336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EXCELENCIA · IA organizacional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46520"/>
            <a:ext cx="411480" cy="182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9696C"/>
                </a:solidFill>
                <a:latin typeface="Aptos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345936"/>
            <a:ext cx="10881360" cy="9144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38A0055-674F-78D5-8E89-92D3ABA0E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15" t="37761" r="28085" b="37953"/>
          <a:stretch>
            <a:fillRect/>
          </a:stretch>
        </p:blipFill>
        <p:spPr>
          <a:xfrm>
            <a:off x="3622529" y="4458337"/>
            <a:ext cx="2209839" cy="1665481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EC953B74-F6A8-DEAF-FDBA-74AD3EA1EE8D}"/>
              </a:ext>
            </a:extLst>
          </p:cNvPr>
          <p:cNvSpPr txBox="1"/>
          <p:nvPr/>
        </p:nvSpPr>
        <p:spPr>
          <a:xfrm>
            <a:off x="1758695" y="4357944"/>
            <a:ext cx="2648713" cy="5445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95000"/>
              </a:lnSpc>
            </a:pPr>
            <a:r>
              <a:rPr lang="es-ES" sz="3000" b="1" dirty="0">
                <a:solidFill>
                  <a:srgbClr val="373739"/>
                </a:solidFill>
                <a:latin typeface="Aptos"/>
              </a:rPr>
              <a:t>Gracias!</a:t>
            </a:r>
            <a:endParaRPr sz="3000" b="1" dirty="0">
              <a:solidFill>
                <a:srgbClr val="373739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1384</Words>
  <Application>Microsoft Macintosh PowerPoint</Application>
  <PresentationFormat>Panorámica</PresentationFormat>
  <Paragraphs>234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Nadia Yague</cp:lastModifiedBy>
  <cp:revision>7</cp:revision>
  <dcterms:created xsi:type="dcterms:W3CDTF">2013-01-27T09:14:16Z</dcterms:created>
  <dcterms:modified xsi:type="dcterms:W3CDTF">2026-05-18T16:05:52Z</dcterms:modified>
  <cp:category/>
</cp:coreProperties>
</file>