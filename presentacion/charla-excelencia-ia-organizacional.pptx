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8138160" y="-137160"/>
            <a:ext cx="685800" cy="7269480"/>
          </a:xfrm>
          <a:prstGeom prst="parallelogram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8823960" y="-137160"/>
            <a:ext cx="685800" cy="7269480"/>
          </a:xfrm>
          <a:prstGeom prst="parallelogram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9509760" y="-137160"/>
            <a:ext cx="685800" cy="7269480"/>
          </a:xfrm>
          <a:prstGeom prst="parallelogram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10195560" y="-137160"/>
            <a:ext cx="685800" cy="7269480"/>
          </a:xfrm>
          <a:prstGeom prst="parallelogram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02920"/>
            <a:ext cx="292608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1828800"/>
            <a:ext cx="7178040" cy="1417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92000"/>
              </a:lnSpc>
            </a:pPr>
            <a:r>
              <a:rPr sz="3200" b="1">
                <a:solidFill>
                  <a:srgbClr val="373739"/>
                </a:solidFill>
                <a:latin typeface="Aptos"/>
              </a:rPr>
              <a:t>IA organizacional:
de información confiable a agentes gobernados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429000"/>
            <a:ext cx="6309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50" b="0">
                <a:solidFill>
                  <a:srgbClr val="69696C"/>
                </a:solidFill>
                <a:latin typeface="Aptos"/>
              </a:rPr>
              <a:t>Cómo preparar documentación, datos y procesos para incorporar IA con valor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4572000"/>
            <a:ext cx="1234440" cy="438912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4690872"/>
            <a:ext cx="1088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30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4572000"/>
            <a:ext cx="2286000" cy="438912"/>
          </a:xfrm>
          <a:prstGeom prst="round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4690872"/>
            <a:ext cx="213969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CEOs y directores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4572000"/>
            <a:ext cx="1920240" cy="438912"/>
          </a:xfrm>
          <a:prstGeom prst="round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4690872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Gestión +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97880"/>
            <a:ext cx="429768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Luis Picone · EXCELENCIA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PUNTO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La tesis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4846320" cy="141732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167128"/>
            <a:ext cx="4334256" cy="10332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no empieza por el algoritmo ni por el agente. Empieza por la calidad de la información sobre la que va a trabajar.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73152" cy="14173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874519"/>
            <a:ext cx="1828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80760" y="1874519"/>
            <a:ext cx="73152" cy="24688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039112"/>
            <a:ext cx="1417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Documentación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487168"/>
            <a:ext cx="141732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Vigente, trazable y fiel a la realidad operativa.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74519"/>
            <a:ext cx="1828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874519"/>
            <a:ext cx="73152" cy="24688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039112"/>
            <a:ext cx="1417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Datos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487168"/>
            <a:ext cx="141732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Íntegros, consistentes, comparables y gobernados.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87000" y="1874519"/>
            <a:ext cx="13258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87000" y="1874519"/>
            <a:ext cx="73152" cy="246888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0" y="2039112"/>
            <a:ext cx="914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Gobierno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2487168"/>
            <a:ext cx="91440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Fuentes, permisos, criterios y validación.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977639"/>
            <a:ext cx="5212080" cy="1463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650">
                <a:solidFill>
                  <a:srgbClr val="373739"/>
                </a:solidFill>
                <a:latin typeface="Aptos"/>
              </a:defRPr>
            </a:pPr>
            <a:r>
              <a:t>• Sin base confiable, la IA amplifica inconsistencias.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650">
                <a:solidFill>
                  <a:srgbClr val="373739"/>
                </a:solidFill>
                <a:latin typeface="Aptos"/>
              </a:defRPr>
            </a:pPr>
            <a:r>
              <a:t>• Con base confiable, la IA puede acelerar análisis, trazabilidad y decisiones.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BASE DOCUMENTAL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Antes de IA: documentación fiel a la realidad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507492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La documentación debe representar cómo opera realmente la organización.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Los repositorios deben ser robustos, actualizados, accesibles y trazables.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Una IA puede responder con forma profesional aunque la fuente sea débil.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Si el proceso real y el documentado no coinciden, la IA trabaja sobre una ficción ordenada.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65960"/>
            <a:ext cx="4754880" cy="11430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167128"/>
            <a:ext cx="4242816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primera pregunta no es qué IA usar. Es si existe información confiable para que la IA pueda trabajar.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965960"/>
            <a:ext cx="73152" cy="114300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3703320"/>
            <a:ext cx="47548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3703320"/>
            <a:ext cx="73152" cy="13258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867911"/>
            <a:ext cx="4343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Riesgo ejecutivo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315968"/>
            <a:ext cx="4343400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Decisiones apoyadas en documentos no vigentes, evidencia difícil de auditar y pérdida de confianza por problemas de base.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INTEGRIDAD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Datos íntegros: la otra mitad de la base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192024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Completos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Cobertura suficiente para analizar sin sesgos críticos.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1874519"/>
            <a:ext cx="73152" cy="192024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Consistentes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Mismas reglas, definiciones y criterios entre áreas.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874519"/>
            <a:ext cx="73152" cy="192024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Trazables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Origen, responsable, actualización y evidencia.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1874519"/>
            <a:ext cx="73152" cy="192024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Gobernados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Permisos, usos, controles y validación.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4434840"/>
            <a:ext cx="9966960" cy="96012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53312" y="4636007"/>
            <a:ext cx="9454896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puede acelerar análisis; no puede reemplazar la responsabilidad organizacional sobre la calidad de los datos.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7280" y="4434840"/>
            <a:ext cx="73152" cy="9601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RIESGO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El riesgo de incorporar IA sobre una base débil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8686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Automatizar errores existentes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1874519"/>
            <a:ext cx="73152" cy="8686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59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Dar velocidad a procesos mal definidos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874519"/>
            <a:ext cx="73152" cy="86868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Usar documentos no vigentes como fuente de verdad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108960"/>
            <a:ext cx="73152" cy="86868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Mezclar criterios entre áreas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59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59" y="3108960"/>
            <a:ext cx="73152" cy="8686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59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59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Exponer información sensible sin permisos claros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79" y="3108960"/>
            <a:ext cx="73152" cy="8686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Generar respuestas difíciles de validar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" y="4983480"/>
            <a:ext cx="101498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6152" y="5184648"/>
            <a:ext cx="9637776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Sin base confiable, la IA no transforma la organización: amplifica sus inconsistencias.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498348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ROL DE EXCELENCIA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Dónde puede ayudar EXCELENCIA antes del agente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73152" cy="164592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Diagnosticar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madurez documental y de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0" y="2148840"/>
            <a:ext cx="73152" cy="164592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Ordenar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repositorios, procesos y fuentes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2148840"/>
            <a:ext cx="73152" cy="164592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Gobernar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criterios, permisos, validación y riesgos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26880" y="2148840"/>
            <a:ext cx="73152" cy="16459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5548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Priorizar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casos de uso por valor y criticidad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0120" y="4617720"/>
            <a:ext cx="10149840" cy="82296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6152" y="4818888"/>
            <a:ext cx="9637776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Antes de diseñar agentes, hay que preparar el terreno: documentación, datos, procesos, criterios y gobierno.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617720"/>
            <a:ext cx="73152" cy="8229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MADUREZ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De usar IA a diseñar Agentes de IA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874519"/>
            <a:ext cx="73152" cy="242316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Uso puntual de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69696C"/>
                </a:solidFill>
                <a:latin typeface="Aptos"/>
              </a:rPr>
              <a:t>Una persona pregunta, obtiene una respuesta y resuelve una tarea aislada.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874519"/>
            <a:ext cx="73152" cy="242316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IA asistida con buena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69696C"/>
                </a:solidFill>
                <a:latin typeface="Aptos"/>
              </a:rPr>
              <a:t>La organización usa fuentes confiables y criterios comunes.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874519"/>
            <a:ext cx="73152" cy="24231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Agente de IA gobernado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30" b="0">
                <a:solidFill>
                  <a:srgbClr val="69696C"/>
                </a:solidFill>
                <a:latin typeface="Aptos"/>
              </a:rPr>
              <a:t>Sistema diseñado para una tarea o proceso, con propósito, fuentes, reglas, herramientas, límites, trazabilidad, validación y métricas.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4892040"/>
            <a:ext cx="955548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9032" y="5093207"/>
            <a:ext cx="9043415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El agente no es el primer paso. Es el paso superador cuando la organización ya sabe qué información, proceso y criterio quiere gobernar.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89204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ALCANCE POTENCIAL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Procesos donde la IA puede agregar valor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Dirección y gobierno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Estrategia y planeamiento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Calidad y sistemas de gestión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9088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Operaciones y seguridad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Comercial y clientes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188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Finanzas y 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Legales y compliance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088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Personas y cultura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Tecnología y sistemas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1188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2160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Compras y proveedores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Comunicación y sostenibilidad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8116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9088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Gestión documental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" y="4754880"/>
            <a:ext cx="10149840" cy="84124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6152" y="4956048"/>
            <a:ext cx="9637776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pregunta relevante no es si la IA puede aportar valor, sino qué información necesita, qué tarea conviene delegar, con qué autonomía y con qué controles.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4754880"/>
            <a:ext cx="73152" cy="84124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Caso único · Documentación, calidad, ISO y PNC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1874519"/>
            <a:ext cx="566928" cy="566928"/>
          </a:xfrm>
          <a:prstGeom prst="ellipse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Base documental
analizable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3657600" y="1874519"/>
            <a:ext cx="566928" cy="566928"/>
          </a:xfrm>
          <a:prstGeom prst="ellipse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561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Cruce contra
ISO y PNC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017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7" name="Oval 16"/>
          <p:cNvSpPr/>
          <p:nvPr/>
        </p:nvSpPr>
        <p:spPr>
          <a:xfrm>
            <a:off x="6446520" y="1874519"/>
            <a:ext cx="566928" cy="566928"/>
          </a:xfrm>
          <a:prstGeom prst="ellipse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975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Evidencias, brechas
y oportunidades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909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21" name="Oval 20"/>
          <p:cNvSpPr/>
          <p:nvPr/>
        </p:nvSpPr>
        <p:spPr>
          <a:xfrm>
            <a:off x="9235439" y="1874519"/>
            <a:ext cx="566928" cy="566928"/>
          </a:xfrm>
          <a:prstGeom prst="ellipse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345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48671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Validación
experta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154680"/>
            <a:ext cx="4709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3154680"/>
            <a:ext cx="73152" cy="123444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3319272"/>
            <a:ext cx="4297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Subejemplo ISO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3767328"/>
            <a:ext cx="4297680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Requisitos, evidencia, cobertura, brechas y acciones de cierre.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4709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154680"/>
            <a:ext cx="73152" cy="123444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319272"/>
            <a:ext cx="4297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Subejemplo PNC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767328"/>
            <a:ext cx="4297680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Modelo de excelencia, fortalezas, oportunidades de mejora e insumos de evaluación.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" y="4892040"/>
            <a:ext cx="101498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16152" y="5093207"/>
            <a:ext cx="9637776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no reemplaza el criterio experto; lo potencia cuando trabaja sobre documentación confiable.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" y="489204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Subejemplo ISO · Matriz de gaps VMOS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27632"/>
            <a:ext cx="96926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9696C"/>
                </a:solidFill>
                <a:latin typeface="Aptos"/>
              </a:rPr>
              <a:t>Muestra real tomada de matriz-gaps-iso-vmos.xlsx · filas Excel 14 a 23 · ids 13 a 22 · cláusula 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993392"/>
            <a:ext cx="73152" cy="117043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Alcance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10 requisitos ISO de planificación: riesgos, ambiente, SST, legales, objetivos y cambios.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1993392"/>
            <a:ext cx="73152" cy="117043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Resultado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3 cubiertos y 7 parciales. La matriz distingue evidencia suficiente de brechas documentales.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993392"/>
            <a:ext cx="73152" cy="117043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Evidencias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69696C"/>
                </a:solidFill>
                <a:latin typeface="Aptos"/>
              </a:rPr>
              <a:t>PRO-EXC-RIE, PRO-EXC-AMB, PRO-EXC-SOP, PRO-EXC-REQ y proceso de Excelencia.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993392"/>
            <a:ext cx="73152" cy="117043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Brechas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69696C"/>
                </a:solidFill>
                <a:latin typeface="Aptos"/>
              </a:rPr>
              <a:t>Faltan registros/matrices integradas para aspectos, SST, objetivos SIG y cambios.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3493008"/>
            <a:ext cx="1325880" cy="310896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3566160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538727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Riesgos y oportunidades; requisitos legales; planificación de acciones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3931920"/>
            <a:ext cx="1325880" cy="310896"/>
          </a:xfrm>
          <a:prstGeom prst="round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4005072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3977639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Aspectos ambientales; peligros/riesgos/oportunidades SST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4370831"/>
            <a:ext cx="1325880" cy="310896"/>
          </a:xfrm>
          <a:prstGeom prst="round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4443983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4416551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Objetivos del sistema y planificación para lograrlos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4809744"/>
            <a:ext cx="1325880" cy="310896"/>
          </a:xfrm>
          <a:prstGeom prst="round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4882896"/>
            <a:ext cx="1188720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8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4855464"/>
            <a:ext cx="8366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373739"/>
                </a:solidFill>
                <a:latin typeface="Aptos"/>
              </a:rPr>
              <a:t>Gestión del cambio: consecuencias, recursos, responsables e impactos SST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" y="5440680"/>
            <a:ext cx="10469880" cy="56692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" y="5641848"/>
            <a:ext cx="9957815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Mensaje para la charla: el agente acelera lectura, cruce y trazabilidad; el experto conserva el criterio de cobertura y la decisión final.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8680" y="5440680"/>
            <a:ext cx="73152" cy="56692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Subejemplo PNC · Madurez y oportunidades de mejora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219456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8803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Entrada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880360" cy="14447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Criterios del Modelo para una Gestión de Excelencia y evidencias de gestión.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874519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874519"/>
            <a:ext cx="73152" cy="219456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039112"/>
            <a:ext cx="28803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Trabajo del agente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487168"/>
            <a:ext cx="2880360" cy="14447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Ordena evidencias, identifica fortalezas, oportunidades de mejora y brechas de madurez.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2918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874519"/>
            <a:ext cx="73152" cy="21945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039112"/>
            <a:ext cx="28803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Salida útil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487168"/>
            <a:ext cx="2880360" cy="14447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Diagnóstico trazable para revisión experta, priorización y planes de mejora.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800600"/>
            <a:ext cx="10104120" cy="77724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5001768"/>
            <a:ext cx="9592056" cy="3931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En PNC, la IA acelera el diagnóstico; la excelencia sigue requiriendo criterio directivo y experto.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4800600"/>
            <a:ext cx="73152" cy="77724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SÍNTESIS EJECUTIVA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Cierre: la secuencia de madurez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1965960"/>
            <a:ext cx="73152" cy="141732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Información confiable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documentación vigente + datos íntegros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450592"/>
            <a:ext cx="320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1965960"/>
            <a:ext cx="73152" cy="141732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IA con gobierno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fuentes, permisos, validación y trazabilidad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2450592"/>
            <a:ext cx="320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965960"/>
            <a:ext cx="73152" cy="141732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Agentes gobernados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tareas/procesos con métricas y resultados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160520"/>
            <a:ext cx="10241280" cy="9144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361688"/>
            <a:ext cx="9729215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pregunta directiva no es solamente qué IA vamos a usar. Es si tenemos la información, los datos y el gobierno necesarios para que la IA cree valor real.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160520"/>
            <a:ext cx="73152" cy="91440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532120"/>
            <a:ext cx="99669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EXCELENCIA prepara la base confiable para IA y diseña agentes gobernados orientados a resultados.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