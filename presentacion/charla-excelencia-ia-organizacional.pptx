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arallelogram 1"/>
          <p:cNvSpPr/>
          <p:nvPr/>
        </p:nvSpPr>
        <p:spPr>
          <a:xfrm>
            <a:off x="8138160" y="-137160"/>
            <a:ext cx="685800" cy="7269480"/>
          </a:xfrm>
          <a:prstGeom prst="parallelogram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8823960" y="-137160"/>
            <a:ext cx="685800" cy="7269480"/>
          </a:xfrm>
          <a:prstGeom prst="parallelogram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9509760" y="-137160"/>
            <a:ext cx="685800" cy="7269480"/>
          </a:xfrm>
          <a:prstGeom prst="parallelogram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arallelogram 4"/>
          <p:cNvSpPr/>
          <p:nvPr/>
        </p:nvSpPr>
        <p:spPr>
          <a:xfrm>
            <a:off x="10195560" y="-137160"/>
            <a:ext cx="685800" cy="7269480"/>
          </a:xfrm>
          <a:prstGeom prst="parallelogram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excelenci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502920"/>
            <a:ext cx="2926080" cy="731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3232" y="1828800"/>
            <a:ext cx="7178040" cy="1417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92000"/>
              </a:lnSpc>
            </a:pPr>
            <a:r>
              <a:rPr sz="3200" b="1">
                <a:solidFill>
                  <a:srgbClr val="373739"/>
                </a:solidFill>
                <a:latin typeface="Aptos"/>
              </a:rPr>
              <a:t>IA organizacional:
de información confiable a agentes gobernados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3429000"/>
            <a:ext cx="6309360" cy="594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850" b="0">
                <a:solidFill>
                  <a:srgbClr val="69696C"/>
                </a:solidFill>
                <a:latin typeface="Aptos"/>
              </a:rPr>
              <a:t>Cómo preparar documentación, datos y procesos para incorporar IA con valor real.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4572000"/>
            <a:ext cx="1234440" cy="438912"/>
          </a:xfrm>
          <a:prstGeom prst="round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4690872"/>
            <a:ext cx="108813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Aptos"/>
              </a:rPr>
              <a:t>30 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21408" y="4572000"/>
            <a:ext cx="2286000" cy="438912"/>
          </a:xfrm>
          <a:prstGeom prst="round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94560" y="4690872"/>
            <a:ext cx="213969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Aptos"/>
              </a:rPr>
              <a:t>CEOs y directores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0" y="4572000"/>
            <a:ext cx="1920240" cy="438912"/>
          </a:xfrm>
          <a:prstGeom prst="round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4690872"/>
            <a:ext cx="177393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Aptos"/>
              </a:rPr>
              <a:t>Gestión + 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5897880"/>
            <a:ext cx="429768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9696C"/>
                </a:solidFill>
                <a:latin typeface="Aptos"/>
              </a:rPr>
              <a:t>Luis Picone · EXCELENCIA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446520"/>
            <a:ext cx="402336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EXCELENCIA · IA organizacional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01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6345936"/>
            <a:ext cx="10881360" cy="9144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77724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0ADB5"/>
                </a:solidFill>
                <a:latin typeface="Aptos"/>
              </a:rPr>
              <a:t>PUNTO DE PARTIDA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85800"/>
            <a:ext cx="896112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373739"/>
                </a:solidFill>
                <a:latin typeface="Aptos"/>
              </a:rPr>
              <a:t>La tesis</a:t>
            </a:r>
          </a:p>
        </p:txBody>
      </p:sp>
      <p:pic>
        <p:nvPicPr>
          <p:cNvPr id="4" name="Picture 3" descr="excelenci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92608"/>
            <a:ext cx="2148840" cy="53721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58368" y="1481328"/>
            <a:ext cx="292608" cy="50292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5" y="1481328"/>
            <a:ext cx="292608" cy="50292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26464" y="1481328"/>
            <a:ext cx="292608" cy="50292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10512" y="1481328"/>
            <a:ext cx="292608" cy="50292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1965960"/>
            <a:ext cx="4846320" cy="1417320"/>
          </a:xfrm>
          <a:prstGeom prst="round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1" y="2167128"/>
            <a:ext cx="4334256" cy="10332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373739"/>
                </a:solidFill>
                <a:latin typeface="Aptos"/>
              </a:rPr>
              <a:t>La IA no empieza por el algoritmo ni por el agente. Empieza por la calidad de la información sobre la que va a trabajar.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965960"/>
            <a:ext cx="73152" cy="1417320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080760" y="1874519"/>
            <a:ext cx="182880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80760" y="1874519"/>
            <a:ext cx="73152" cy="2468880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2039112"/>
            <a:ext cx="14173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373739"/>
                </a:solidFill>
                <a:latin typeface="Aptos"/>
              </a:rPr>
              <a:t>Documentación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487168"/>
            <a:ext cx="1417320" cy="17190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9696C"/>
                </a:solidFill>
                <a:latin typeface="Aptos"/>
              </a:rPr>
              <a:t>Vigente, trazable y fiel a la realidad operativa.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1874519"/>
            <a:ext cx="182880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83879" y="1874519"/>
            <a:ext cx="73152" cy="2468880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0" y="2039112"/>
            <a:ext cx="14173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373739"/>
                </a:solidFill>
                <a:latin typeface="Aptos"/>
              </a:rPr>
              <a:t>Datos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2487168"/>
            <a:ext cx="1417320" cy="17190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9696C"/>
                </a:solidFill>
                <a:latin typeface="Aptos"/>
              </a:rPr>
              <a:t>Íntegros, consistentes, comparables y gobernados.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287000" y="1874519"/>
            <a:ext cx="132588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287000" y="1874519"/>
            <a:ext cx="73152" cy="2468880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0" y="2039112"/>
            <a:ext cx="9144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373739"/>
                </a:solidFill>
                <a:latin typeface="Aptos"/>
              </a:rPr>
              <a:t>Gobierno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2487168"/>
            <a:ext cx="914400" cy="17190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9696C"/>
                </a:solidFill>
                <a:latin typeface="Aptos"/>
              </a:rPr>
              <a:t>Fuentes, permisos, criterios y validación.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3977639"/>
            <a:ext cx="5212080" cy="1463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04000"/>
              </a:lnSpc>
              <a:spcAft>
                <a:spcPts val="900"/>
              </a:spcAft>
              <a:defRPr sz="1650">
                <a:solidFill>
                  <a:srgbClr val="373739"/>
                </a:solidFill>
                <a:latin typeface="Aptos"/>
              </a:defRPr>
            </a:pPr>
            <a:r>
              <a:t>• Sin base confiable, la IA amplifica inconsistencias.</a:t>
            </a:r>
          </a:p>
          <a:p>
            <a:pPr>
              <a:lnSpc>
                <a:spcPct val="104000"/>
              </a:lnSpc>
              <a:spcAft>
                <a:spcPts val="900"/>
              </a:spcAft>
              <a:defRPr sz="1650">
                <a:solidFill>
                  <a:srgbClr val="373739"/>
                </a:solidFill>
                <a:latin typeface="Aptos"/>
              </a:defRPr>
            </a:pPr>
            <a:r>
              <a:t>• Con base confiable, la IA puede acelerar análisis, trazabilidad y decisiones.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6446520"/>
            <a:ext cx="402336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EXCELENCIA · IA organizacional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02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6345936"/>
            <a:ext cx="10881360" cy="9144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77724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0ADB5"/>
                </a:solidFill>
                <a:latin typeface="Aptos"/>
              </a:rPr>
              <a:t>BASE DOCUMENTAL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85800"/>
            <a:ext cx="896112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373739"/>
                </a:solidFill>
                <a:latin typeface="Aptos"/>
              </a:rPr>
              <a:t>Antes de IA: documentación fiel a la realidad</a:t>
            </a:r>
          </a:p>
        </p:txBody>
      </p:sp>
      <p:pic>
        <p:nvPicPr>
          <p:cNvPr id="4" name="Picture 3" descr="excelenci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92608"/>
            <a:ext cx="2148840" cy="53721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58368" y="1481328"/>
            <a:ext cx="292608" cy="50292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5" y="1481328"/>
            <a:ext cx="292608" cy="50292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26464" y="1481328"/>
            <a:ext cx="292608" cy="50292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10512" y="1481328"/>
            <a:ext cx="292608" cy="50292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874519"/>
            <a:ext cx="5074920" cy="3108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04000"/>
              </a:lnSpc>
              <a:spcAft>
                <a:spcPts val="900"/>
              </a:spcAft>
              <a:defRPr sz="1700">
                <a:solidFill>
                  <a:srgbClr val="373739"/>
                </a:solidFill>
                <a:latin typeface="Aptos"/>
              </a:defRPr>
            </a:pPr>
            <a:r>
              <a:t>• La documentación debe representar cómo opera realmente la organización.</a:t>
            </a:r>
          </a:p>
          <a:p>
            <a:pPr>
              <a:lnSpc>
                <a:spcPct val="104000"/>
              </a:lnSpc>
              <a:spcAft>
                <a:spcPts val="900"/>
              </a:spcAft>
              <a:defRPr sz="1700">
                <a:solidFill>
                  <a:srgbClr val="373739"/>
                </a:solidFill>
                <a:latin typeface="Aptos"/>
              </a:defRPr>
            </a:pPr>
            <a:r>
              <a:t>• Los repositorios deben ser robustos, actualizados, accesibles y trazables.</a:t>
            </a:r>
          </a:p>
          <a:p>
            <a:pPr>
              <a:lnSpc>
                <a:spcPct val="104000"/>
              </a:lnSpc>
              <a:spcAft>
                <a:spcPts val="900"/>
              </a:spcAft>
              <a:defRPr sz="1700">
                <a:solidFill>
                  <a:srgbClr val="373739"/>
                </a:solidFill>
                <a:latin typeface="Aptos"/>
              </a:defRPr>
            </a:pPr>
            <a:r>
              <a:t>• Una IA puede responder con forma profesional aunque la fuente sea débil.</a:t>
            </a:r>
          </a:p>
          <a:p>
            <a:pPr>
              <a:lnSpc>
                <a:spcPct val="104000"/>
              </a:lnSpc>
              <a:spcAft>
                <a:spcPts val="900"/>
              </a:spcAft>
              <a:defRPr sz="1700">
                <a:solidFill>
                  <a:srgbClr val="373739"/>
                </a:solidFill>
                <a:latin typeface="Aptos"/>
              </a:defRPr>
            </a:pPr>
            <a:r>
              <a:t>• Si el proceso real y el documentado no coinciden, la IA trabaja sobre una ficción ordenada.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965960"/>
            <a:ext cx="4754880" cy="1143000"/>
          </a:xfrm>
          <a:prstGeom prst="round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56832" y="2167128"/>
            <a:ext cx="4242816" cy="7589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373739"/>
                </a:solidFill>
                <a:latin typeface="Aptos"/>
              </a:rPr>
              <a:t>La primera pregunta no es qué IA usar. Es si existe información confiable para que la IA pueda trabajar.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965960"/>
            <a:ext cx="73152" cy="1143000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0" y="3703320"/>
            <a:ext cx="475488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3703320"/>
            <a:ext cx="73152" cy="1325880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9400" y="3867911"/>
            <a:ext cx="43434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73739"/>
                </a:solidFill>
                <a:latin typeface="Aptos"/>
              </a:rPr>
              <a:t>Riesgo ejecutivo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4315968"/>
            <a:ext cx="4343400" cy="5760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9696C"/>
                </a:solidFill>
                <a:latin typeface="Aptos"/>
              </a:rPr>
              <a:t>Decisiones apoyadas en documentos no vigentes, evidencia difícil de auditar y pérdida de confianza por problemas de base.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446520"/>
            <a:ext cx="402336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EXCELENCIA · IA organizacional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03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6345936"/>
            <a:ext cx="10881360" cy="9144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77724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0ADB5"/>
                </a:solidFill>
                <a:latin typeface="Aptos"/>
              </a:rPr>
              <a:t>INTEGRIDAD DE DATOS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85800"/>
            <a:ext cx="896112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373739"/>
                </a:solidFill>
                <a:latin typeface="Aptos"/>
              </a:rPr>
              <a:t>Datos íntegros: la otra mitad de la base</a:t>
            </a:r>
          </a:p>
        </p:txBody>
      </p:sp>
      <p:pic>
        <p:nvPicPr>
          <p:cNvPr id="4" name="Picture 3" descr="excelenci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92608"/>
            <a:ext cx="2148840" cy="53721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58368" y="1481328"/>
            <a:ext cx="292608" cy="50292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5" y="1481328"/>
            <a:ext cx="292608" cy="50292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26464" y="1481328"/>
            <a:ext cx="292608" cy="50292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10512" y="1481328"/>
            <a:ext cx="292608" cy="50292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1874519"/>
            <a:ext cx="251460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74519"/>
            <a:ext cx="73152" cy="1920240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39112"/>
            <a:ext cx="2103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373739"/>
                </a:solidFill>
                <a:latin typeface="Aptos"/>
              </a:rPr>
              <a:t>Completos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487168"/>
            <a:ext cx="2103120" cy="11704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9696C"/>
                </a:solidFill>
                <a:latin typeface="Aptos"/>
              </a:rPr>
              <a:t>Cobertura suficiente para analizar sin sesgos críticos.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66160" y="1874519"/>
            <a:ext cx="251460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66160" y="1874519"/>
            <a:ext cx="73152" cy="1920240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94760" y="2039112"/>
            <a:ext cx="2103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373739"/>
                </a:solidFill>
                <a:latin typeface="Aptos"/>
              </a:rPr>
              <a:t>Consistentes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94760" y="2487168"/>
            <a:ext cx="2103120" cy="11704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9696C"/>
                </a:solidFill>
                <a:latin typeface="Aptos"/>
              </a:rPr>
              <a:t>Mismas reglas, definiciones y criterios entre áreas.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80" y="1874519"/>
            <a:ext cx="251460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55080" y="1874519"/>
            <a:ext cx="73152" cy="1920240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2039112"/>
            <a:ext cx="2103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373739"/>
                </a:solidFill>
                <a:latin typeface="Aptos"/>
              </a:rPr>
              <a:t>Trazables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487168"/>
            <a:ext cx="2103120" cy="11704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9696C"/>
                </a:solidFill>
                <a:latin typeface="Aptos"/>
              </a:rPr>
              <a:t>Origen, responsable, actualización y evidencia.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0" y="1874519"/>
            <a:ext cx="251460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0" y="1874519"/>
            <a:ext cx="73152" cy="1920240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72600" y="2039112"/>
            <a:ext cx="2103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373739"/>
                </a:solidFill>
                <a:latin typeface="Aptos"/>
              </a:rPr>
              <a:t>Gobernados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72600" y="2487168"/>
            <a:ext cx="2103120" cy="11704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9696C"/>
                </a:solidFill>
                <a:latin typeface="Aptos"/>
              </a:rPr>
              <a:t>Permisos, usos, controles y validación.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97280" y="4434840"/>
            <a:ext cx="9966960" cy="960120"/>
          </a:xfrm>
          <a:prstGeom prst="round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53312" y="4636007"/>
            <a:ext cx="9454896" cy="5760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373739"/>
                </a:solidFill>
                <a:latin typeface="Aptos"/>
              </a:rPr>
              <a:t>La IA puede acelerar análisis; no puede reemplazar la responsabilidad organizacional sobre la calidad de los datos.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97280" y="4434840"/>
            <a:ext cx="73152" cy="960120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6446520"/>
            <a:ext cx="402336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EXCELENCIA · IA organizacional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04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45936"/>
            <a:ext cx="10881360" cy="9144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77724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0ADB5"/>
                </a:solidFill>
                <a:latin typeface="Aptos"/>
              </a:rPr>
              <a:t>RIESGO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85800"/>
            <a:ext cx="896112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373739"/>
                </a:solidFill>
                <a:latin typeface="Aptos"/>
              </a:rPr>
              <a:t>El riesgo de incorporar IA sobre una base débil</a:t>
            </a:r>
          </a:p>
        </p:txBody>
      </p:sp>
      <p:pic>
        <p:nvPicPr>
          <p:cNvPr id="4" name="Picture 3" descr="excelenci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92608"/>
            <a:ext cx="2148840" cy="53721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58368" y="1481328"/>
            <a:ext cx="292608" cy="50292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5" y="1481328"/>
            <a:ext cx="292608" cy="50292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26464" y="1481328"/>
            <a:ext cx="292608" cy="50292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10512" y="1481328"/>
            <a:ext cx="292608" cy="50292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1874519"/>
            <a:ext cx="324612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74519"/>
            <a:ext cx="73152" cy="868680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39112"/>
            <a:ext cx="2834639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73739"/>
                </a:solidFill>
                <a:latin typeface="Apto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487168"/>
            <a:ext cx="2834639" cy="1188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9696C"/>
                </a:solidFill>
                <a:latin typeface="Aptos"/>
              </a:rPr>
              <a:t>Automatizar errores existentes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0559" y="1874519"/>
            <a:ext cx="324612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59" y="1874519"/>
            <a:ext cx="73152" cy="868680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59" y="2039112"/>
            <a:ext cx="2834639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73739"/>
                </a:solidFill>
                <a:latin typeface="Apto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9159" y="2487168"/>
            <a:ext cx="2834639" cy="1188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9696C"/>
                </a:solidFill>
                <a:latin typeface="Aptos"/>
              </a:rPr>
              <a:t>Dar velocidad a procesos mal definidos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3879" y="1874519"/>
            <a:ext cx="324612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83879" y="1874519"/>
            <a:ext cx="73152" cy="868680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0" y="2039112"/>
            <a:ext cx="2834639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73739"/>
                </a:solidFill>
                <a:latin typeface="Apto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2487168"/>
            <a:ext cx="2834639" cy="1188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9696C"/>
                </a:solidFill>
                <a:latin typeface="Aptos"/>
              </a:rPr>
              <a:t>Usar documentos no vigentes como fuente de verdad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3108960"/>
            <a:ext cx="324612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3108960"/>
            <a:ext cx="73152" cy="868680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3273552"/>
            <a:ext cx="2834639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73739"/>
                </a:solidFill>
                <a:latin typeface="Apto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3721608"/>
            <a:ext cx="2834639" cy="1188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9696C"/>
                </a:solidFill>
                <a:latin typeface="Aptos"/>
              </a:rPr>
              <a:t>Mezclar criterios entre áreas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80559" y="3108960"/>
            <a:ext cx="324612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480559" y="3108960"/>
            <a:ext cx="73152" cy="868680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09159" y="3273552"/>
            <a:ext cx="2834639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73739"/>
                </a:solidFill>
                <a:latin typeface="Apto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09159" y="3721608"/>
            <a:ext cx="2834639" cy="1188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9696C"/>
                </a:solidFill>
                <a:latin typeface="Aptos"/>
              </a:rPr>
              <a:t>Exponer información sensible sin permisos claros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83879" y="3108960"/>
            <a:ext cx="324612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83879" y="3108960"/>
            <a:ext cx="73152" cy="868680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0" y="3273552"/>
            <a:ext cx="2834639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73739"/>
                </a:solidFill>
                <a:latin typeface="Aptos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0" y="3721608"/>
            <a:ext cx="2834639" cy="1188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9696C"/>
                </a:solidFill>
                <a:latin typeface="Aptos"/>
              </a:rPr>
              <a:t>Generar respuestas difíciles de validar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60120" y="4983480"/>
            <a:ext cx="10149840" cy="749808"/>
          </a:xfrm>
          <a:prstGeom prst="round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16152" y="5184648"/>
            <a:ext cx="9637776" cy="36575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373739"/>
                </a:solidFill>
                <a:latin typeface="Aptos"/>
              </a:rPr>
              <a:t>Sin base confiable, la IA no transforma la organización: amplifica sus inconsistencias.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0120" y="4983480"/>
            <a:ext cx="73152" cy="749808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8368" y="6446520"/>
            <a:ext cx="402336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EXCELENCIA · IA organizacional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05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6345936"/>
            <a:ext cx="10881360" cy="9144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77724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0ADB5"/>
                </a:solidFill>
                <a:latin typeface="Aptos"/>
              </a:rPr>
              <a:t>ROL DE EXCELENCIA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85800"/>
            <a:ext cx="896112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373739"/>
                </a:solidFill>
                <a:latin typeface="Aptos"/>
              </a:rPr>
              <a:t>Dónde puede ayudar EXCELENCIA antes del agente</a:t>
            </a:r>
          </a:p>
        </p:txBody>
      </p:sp>
      <p:pic>
        <p:nvPicPr>
          <p:cNvPr id="4" name="Picture 3" descr="excelenci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92608"/>
            <a:ext cx="2148840" cy="53721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58368" y="1481328"/>
            <a:ext cx="292608" cy="50292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5" y="1481328"/>
            <a:ext cx="292608" cy="50292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26464" y="1481328"/>
            <a:ext cx="292608" cy="50292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10512" y="1481328"/>
            <a:ext cx="292608" cy="50292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" y="2148840"/>
            <a:ext cx="233172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2148840"/>
            <a:ext cx="73152" cy="1645920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313432"/>
            <a:ext cx="1920239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373739"/>
                </a:solidFill>
                <a:latin typeface="Aptos"/>
              </a:rPr>
              <a:t>Diagnosticar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761488"/>
            <a:ext cx="1920239" cy="8961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9696C"/>
                </a:solidFill>
                <a:latin typeface="Aptos"/>
              </a:rPr>
              <a:t>madurez documental y de datos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18688" y="2697480"/>
            <a:ext cx="32004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69696C"/>
                </a:solidFill>
                <a:latin typeface="Aptos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0" y="2148840"/>
            <a:ext cx="233172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0" y="2148840"/>
            <a:ext cx="73152" cy="1645920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86200" y="2313432"/>
            <a:ext cx="1920239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373739"/>
                </a:solidFill>
                <a:latin typeface="Aptos"/>
              </a:rPr>
              <a:t>Ordenar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86200" y="2761488"/>
            <a:ext cx="1920239" cy="8961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9696C"/>
                </a:solidFill>
                <a:latin typeface="Aptos"/>
              </a:rPr>
              <a:t>repositorios, procesos y fuentes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53328" y="2697480"/>
            <a:ext cx="32004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69696C"/>
                </a:solidFill>
                <a:latin typeface="Aptos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92240" y="2148840"/>
            <a:ext cx="233172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92240" y="2148840"/>
            <a:ext cx="73152" cy="1645920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20840" y="2313432"/>
            <a:ext cx="1920239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373739"/>
                </a:solidFill>
                <a:latin typeface="Aptos"/>
              </a:rPr>
              <a:t>Gobernar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2761488"/>
            <a:ext cx="1920239" cy="8961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9696C"/>
                </a:solidFill>
                <a:latin typeface="Aptos"/>
              </a:rPr>
              <a:t>criterios, permisos, validación y riesgos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87968" y="2697480"/>
            <a:ext cx="32004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69696C"/>
                </a:solidFill>
                <a:latin typeface="Aptos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326880" y="2148840"/>
            <a:ext cx="233172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326880" y="2148840"/>
            <a:ext cx="73152" cy="1645920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55480" y="2313432"/>
            <a:ext cx="1920239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373739"/>
                </a:solidFill>
                <a:latin typeface="Aptos"/>
              </a:rPr>
              <a:t>Priorizar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761488"/>
            <a:ext cx="1920239" cy="8961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9696C"/>
                </a:solidFill>
                <a:latin typeface="Aptos"/>
              </a:rPr>
              <a:t>casos de uso por valor y criticidad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60120" y="4617720"/>
            <a:ext cx="10149840" cy="822960"/>
          </a:xfrm>
          <a:prstGeom prst="round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16152" y="4818888"/>
            <a:ext cx="9637776" cy="4389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373739"/>
                </a:solidFill>
                <a:latin typeface="Aptos"/>
              </a:rPr>
              <a:t>Antes de diseñar agentes, hay que preparar el terreno: documentación, datos, procesos, criterios y gobierno.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60120" y="4617720"/>
            <a:ext cx="73152" cy="822960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446520"/>
            <a:ext cx="402336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EXCELENCIA · IA organizacional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06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6345936"/>
            <a:ext cx="10881360" cy="9144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77724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0ADB5"/>
                </a:solidFill>
                <a:latin typeface="Aptos"/>
              </a:rPr>
              <a:t>MADUREZ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85800"/>
            <a:ext cx="896112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373739"/>
                </a:solidFill>
                <a:latin typeface="Aptos"/>
              </a:rPr>
              <a:t>De usar IA a diseñar Agentes de IA</a:t>
            </a:r>
          </a:p>
        </p:txBody>
      </p:sp>
      <p:pic>
        <p:nvPicPr>
          <p:cNvPr id="4" name="Picture 3" descr="excelenci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92608"/>
            <a:ext cx="2148840" cy="53721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58368" y="1481328"/>
            <a:ext cx="292608" cy="50292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5" y="1481328"/>
            <a:ext cx="292608" cy="50292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26464" y="1481328"/>
            <a:ext cx="292608" cy="50292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10512" y="1481328"/>
            <a:ext cx="292608" cy="50292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" y="1874519"/>
            <a:ext cx="324612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1874519"/>
            <a:ext cx="73152" cy="2423160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039112"/>
            <a:ext cx="2834639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373739"/>
                </a:solidFill>
                <a:latin typeface="Aptos"/>
              </a:rPr>
              <a:t>Uso puntual de 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487168"/>
            <a:ext cx="2834639" cy="16733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320" b="0">
                <a:solidFill>
                  <a:srgbClr val="69696C"/>
                </a:solidFill>
                <a:latin typeface="Aptos"/>
              </a:rPr>
              <a:t>Una persona pregunta, obtiene una respuesta y resuelve una tarea aislada.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0560" y="1874519"/>
            <a:ext cx="324612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60" y="1874519"/>
            <a:ext cx="73152" cy="2423160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2039112"/>
            <a:ext cx="2834639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373739"/>
                </a:solidFill>
                <a:latin typeface="Aptos"/>
              </a:rPr>
              <a:t>IA asistida con buena base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9160" y="2487168"/>
            <a:ext cx="2834639" cy="16733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320" b="0">
                <a:solidFill>
                  <a:srgbClr val="69696C"/>
                </a:solidFill>
                <a:latin typeface="Aptos"/>
              </a:rPr>
              <a:t>La organización usa fuentes confiables y criterios comunes.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874519"/>
            <a:ext cx="324612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8160" y="1874519"/>
            <a:ext cx="73152" cy="2423160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039112"/>
            <a:ext cx="2834639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373739"/>
                </a:solidFill>
                <a:latin typeface="Aptos"/>
              </a:rPr>
              <a:t>Agente de IA gobernado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487168"/>
            <a:ext cx="2834639" cy="16733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30" b="0">
                <a:solidFill>
                  <a:srgbClr val="69696C"/>
                </a:solidFill>
                <a:latin typeface="Aptos"/>
              </a:rPr>
              <a:t>Sistema diseñado para una tarea o proceso, con propósito, fuentes, reglas, herramientas, límites, trazabilidad, validación y métricas.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43000" y="4892040"/>
            <a:ext cx="9555480" cy="749808"/>
          </a:xfrm>
          <a:prstGeom prst="round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9032" y="5093207"/>
            <a:ext cx="9043415" cy="36575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373739"/>
                </a:solidFill>
                <a:latin typeface="Aptos"/>
              </a:rPr>
              <a:t>El agente no es el primer paso. Es el paso superador cuando la organización ya sabe qué información, proceso y criterio quiere gobernar.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4892040"/>
            <a:ext cx="73152" cy="749808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6446520"/>
            <a:ext cx="402336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EXCELENCIA · IA organizacional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07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6345936"/>
            <a:ext cx="10881360" cy="9144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77724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0ADB5"/>
                </a:solidFill>
                <a:latin typeface="Aptos"/>
              </a:rPr>
              <a:t>ALCANCE POTENCIAL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85800"/>
            <a:ext cx="896112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373739"/>
                </a:solidFill>
                <a:latin typeface="Aptos"/>
              </a:rPr>
              <a:t>Procesos donde la IA puede agregar valor</a:t>
            </a:r>
          </a:p>
        </p:txBody>
      </p:sp>
      <p:pic>
        <p:nvPicPr>
          <p:cNvPr id="4" name="Picture 3" descr="excelenci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92608"/>
            <a:ext cx="2148840" cy="53721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58368" y="1481328"/>
            <a:ext cx="292608" cy="50292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5" y="1481328"/>
            <a:ext cx="292608" cy="50292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26464" y="1481328"/>
            <a:ext cx="292608" cy="50292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10512" y="1481328"/>
            <a:ext cx="292608" cy="50292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1828800"/>
            <a:ext cx="2450592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1965960"/>
            <a:ext cx="223113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373739"/>
                </a:solidFill>
                <a:latin typeface="Aptos"/>
              </a:rPr>
              <a:t>Dirección y gobierno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28800"/>
            <a:ext cx="2450592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21608" y="1965960"/>
            <a:ext cx="223113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373739"/>
                </a:solidFill>
                <a:latin typeface="Aptos"/>
              </a:rPr>
              <a:t>Estrategia y planeamiento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46520" y="1828800"/>
            <a:ext cx="2450592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56248" y="1965960"/>
            <a:ext cx="223113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373739"/>
                </a:solidFill>
                <a:latin typeface="Aptos"/>
              </a:rPr>
              <a:t>Calidad y sistemas de gestión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81160" y="1828800"/>
            <a:ext cx="2450592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90888" y="1965960"/>
            <a:ext cx="223113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373739"/>
                </a:solidFill>
                <a:latin typeface="Aptos"/>
              </a:rPr>
              <a:t>Operaciones y seguridad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2578608"/>
            <a:ext cx="2450592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2715768"/>
            <a:ext cx="223113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373739"/>
                </a:solidFill>
                <a:latin typeface="Aptos"/>
              </a:rPr>
              <a:t>Comercial y clientes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11880" y="2578608"/>
            <a:ext cx="2450592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21608" y="2715768"/>
            <a:ext cx="223113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373739"/>
                </a:solidFill>
                <a:latin typeface="Aptos"/>
              </a:rPr>
              <a:t>Finanzas y control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46520" y="2578608"/>
            <a:ext cx="2450592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56248" y="2715768"/>
            <a:ext cx="223113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373739"/>
                </a:solidFill>
                <a:latin typeface="Aptos"/>
              </a:rPr>
              <a:t>Legales y compliance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81160" y="2578608"/>
            <a:ext cx="2450592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90888" y="2715768"/>
            <a:ext cx="223113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373739"/>
                </a:solidFill>
                <a:latin typeface="Aptos"/>
              </a:rPr>
              <a:t>Personas y cultura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3328415"/>
            <a:ext cx="2450592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86968" y="3465575"/>
            <a:ext cx="223113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373739"/>
                </a:solidFill>
                <a:latin typeface="Aptos"/>
              </a:rPr>
              <a:t>Tecnología y sistemas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611880" y="3328415"/>
            <a:ext cx="2450592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721608" y="3465575"/>
            <a:ext cx="223113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373739"/>
                </a:solidFill>
                <a:latin typeface="Aptos"/>
              </a:rPr>
              <a:t>Compras y proveedores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46520" y="3328415"/>
            <a:ext cx="2450592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56248" y="3465575"/>
            <a:ext cx="223113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373739"/>
                </a:solidFill>
                <a:latin typeface="Aptos"/>
              </a:rPr>
              <a:t>Comunicación y sostenibilidad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281160" y="3328415"/>
            <a:ext cx="2450592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90888" y="3465575"/>
            <a:ext cx="223113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373739"/>
                </a:solidFill>
                <a:latin typeface="Aptos"/>
              </a:rPr>
              <a:t>Gestión documental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60120" y="4754880"/>
            <a:ext cx="10149840" cy="841248"/>
          </a:xfrm>
          <a:prstGeom prst="round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16152" y="4956048"/>
            <a:ext cx="9637776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373739"/>
                </a:solidFill>
                <a:latin typeface="Aptos"/>
              </a:rPr>
              <a:t>La pregunta relevante no es si la IA puede aportar valor, sino qué información necesita, qué tarea conviene delegar, con qué autonomía y con qué controles.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0120" y="4754880"/>
            <a:ext cx="73152" cy="841248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8368" y="6446520"/>
            <a:ext cx="402336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EXCELENCIA · IA organizacional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08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6345936"/>
            <a:ext cx="10881360" cy="9144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77724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0ADB5"/>
                </a:solidFill>
                <a:latin typeface="Aptos"/>
              </a:rPr>
              <a:t>CASO APLICADO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85800"/>
            <a:ext cx="896112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373739"/>
                </a:solidFill>
                <a:latin typeface="Aptos"/>
              </a:rPr>
              <a:t>Caso único · Documentación, calidad, ISO y PNC</a:t>
            </a:r>
          </a:p>
        </p:txBody>
      </p:sp>
      <p:pic>
        <p:nvPicPr>
          <p:cNvPr id="4" name="Picture 3" descr="excelenci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92608"/>
            <a:ext cx="2148840" cy="53721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58368" y="1481328"/>
            <a:ext cx="292608" cy="50292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5" y="1481328"/>
            <a:ext cx="292608" cy="50292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26464" y="1481328"/>
            <a:ext cx="292608" cy="50292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10512" y="1481328"/>
            <a:ext cx="292608" cy="50292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68680" y="1874519"/>
            <a:ext cx="566928" cy="566928"/>
          </a:xfrm>
          <a:prstGeom prst="ellipse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5" y="1993392"/>
            <a:ext cx="32004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81912" y="1828800"/>
            <a:ext cx="173736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373739"/>
                </a:solidFill>
                <a:latin typeface="Aptos"/>
              </a:rPr>
              <a:t>Base documental
analizable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91256" y="2029968"/>
            <a:ext cx="256032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69696C"/>
                </a:solidFill>
                <a:latin typeface="Aptos"/>
              </a:rPr>
              <a:t>→</a:t>
            </a:r>
          </a:p>
        </p:txBody>
      </p:sp>
      <p:sp>
        <p:nvSpPr>
          <p:cNvPr id="13" name="Oval 12"/>
          <p:cNvSpPr/>
          <p:nvPr/>
        </p:nvSpPr>
        <p:spPr>
          <a:xfrm>
            <a:off x="3657600" y="1874519"/>
            <a:ext cx="566928" cy="566928"/>
          </a:xfrm>
          <a:prstGeom prst="ellipse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85615" y="1993392"/>
            <a:ext cx="32004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0832" y="1828800"/>
            <a:ext cx="173736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373739"/>
                </a:solidFill>
                <a:latin typeface="Aptos"/>
              </a:rPr>
              <a:t>Cruce contra
ISO y PNC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0176" y="2029968"/>
            <a:ext cx="256032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69696C"/>
                </a:solidFill>
                <a:latin typeface="Aptos"/>
              </a:rPr>
              <a:t>→</a:t>
            </a:r>
          </a:p>
        </p:txBody>
      </p:sp>
      <p:sp>
        <p:nvSpPr>
          <p:cNvPr id="17" name="Oval 16"/>
          <p:cNvSpPr/>
          <p:nvPr/>
        </p:nvSpPr>
        <p:spPr>
          <a:xfrm>
            <a:off x="6446520" y="1874519"/>
            <a:ext cx="566928" cy="566928"/>
          </a:xfrm>
          <a:prstGeom prst="ellipse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74536" y="1993392"/>
            <a:ext cx="32004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59752" y="1828800"/>
            <a:ext cx="173736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373739"/>
                </a:solidFill>
                <a:latin typeface="Aptos"/>
              </a:rPr>
              <a:t>Evidencias, brechas
y oportunidades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69096" y="2029968"/>
            <a:ext cx="256032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69696C"/>
                </a:solidFill>
                <a:latin typeface="Aptos"/>
              </a:rPr>
              <a:t>→</a:t>
            </a:r>
          </a:p>
        </p:txBody>
      </p:sp>
      <p:sp>
        <p:nvSpPr>
          <p:cNvPr id="21" name="Oval 20"/>
          <p:cNvSpPr/>
          <p:nvPr/>
        </p:nvSpPr>
        <p:spPr>
          <a:xfrm>
            <a:off x="9235439" y="1874519"/>
            <a:ext cx="566928" cy="566928"/>
          </a:xfrm>
          <a:prstGeom prst="ellipse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63455" y="1993392"/>
            <a:ext cx="32004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48671" y="1828800"/>
            <a:ext cx="173736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373739"/>
                </a:solidFill>
                <a:latin typeface="Aptos"/>
              </a:rPr>
              <a:t>Validación
experta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" y="3154680"/>
            <a:ext cx="470916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4400" y="3154680"/>
            <a:ext cx="73152" cy="1234440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3319272"/>
            <a:ext cx="4297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373739"/>
                </a:solidFill>
                <a:latin typeface="Aptos"/>
              </a:rPr>
              <a:t>Subejemplo ISO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3767328"/>
            <a:ext cx="4297680" cy="4846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80" b="0">
                <a:solidFill>
                  <a:srgbClr val="69696C"/>
                </a:solidFill>
                <a:latin typeface="Aptos"/>
              </a:rPr>
              <a:t>Requisitos, evidencia, cobertura, brechas y acciones de cierre.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3154680"/>
            <a:ext cx="470916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72200" y="3154680"/>
            <a:ext cx="73152" cy="1234440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3319272"/>
            <a:ext cx="4297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373739"/>
                </a:solidFill>
                <a:latin typeface="Aptos"/>
              </a:rPr>
              <a:t>Subejemplo PNC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3767328"/>
            <a:ext cx="4297680" cy="4846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80" b="0">
                <a:solidFill>
                  <a:srgbClr val="69696C"/>
                </a:solidFill>
                <a:latin typeface="Aptos"/>
              </a:rPr>
              <a:t>Modelo de excelencia, fortalezas, oportunidades de mejora e insumos de evaluación.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60120" y="4892040"/>
            <a:ext cx="10149840" cy="749808"/>
          </a:xfrm>
          <a:prstGeom prst="round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16152" y="5093207"/>
            <a:ext cx="9637776" cy="36575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373739"/>
                </a:solidFill>
                <a:latin typeface="Aptos"/>
              </a:rPr>
              <a:t>La IA no reemplaza el criterio experto; lo potencia cuando trabaja sobre documentación confiable.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60120" y="4892040"/>
            <a:ext cx="73152" cy="749808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" y="6446520"/>
            <a:ext cx="402336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EXCELENCIA · IA organizacional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09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345936"/>
            <a:ext cx="10881360" cy="9144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77724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0ADB5"/>
                </a:solidFill>
                <a:latin typeface="Aptos"/>
              </a:rPr>
              <a:t>CASO APLICADO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85800"/>
            <a:ext cx="896112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373739"/>
                </a:solidFill>
                <a:latin typeface="Aptos"/>
              </a:rPr>
              <a:t>Subejemplo ISO · Matriz de gaps VMOS</a:t>
            </a:r>
          </a:p>
        </p:txBody>
      </p:sp>
      <p:pic>
        <p:nvPicPr>
          <p:cNvPr id="4" name="Picture 3" descr="excelenci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92608"/>
            <a:ext cx="2148840" cy="53721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58368" y="1481328"/>
            <a:ext cx="292608" cy="50292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5" y="1481328"/>
            <a:ext cx="292608" cy="50292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26464" y="1481328"/>
            <a:ext cx="292608" cy="50292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10512" y="1481328"/>
            <a:ext cx="292608" cy="50292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1627632"/>
            <a:ext cx="969264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9696C"/>
                </a:solidFill>
                <a:latin typeface="Aptos"/>
              </a:rPr>
              <a:t>Muestra real tomada de matriz-gaps-iso-vmos.xlsx · filas Excel 14 a 23 · ids 13 a 22 · cláusula 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1993392"/>
            <a:ext cx="251460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993392"/>
            <a:ext cx="73152" cy="1170432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157984"/>
            <a:ext cx="2103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73739"/>
                </a:solidFill>
                <a:latin typeface="Aptos"/>
              </a:rPr>
              <a:t>Alcance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606040"/>
            <a:ext cx="2103120" cy="42062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160" b="0">
                <a:solidFill>
                  <a:srgbClr val="69696C"/>
                </a:solidFill>
                <a:latin typeface="Aptos"/>
              </a:rPr>
              <a:t>10 requisitos ISO de planificación: riesgos, ambiente, SST, legales, objetivos y cambios.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20440" y="1993392"/>
            <a:ext cx="251460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20440" y="1993392"/>
            <a:ext cx="73152" cy="1170432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49039" y="2157984"/>
            <a:ext cx="2103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73739"/>
                </a:solidFill>
                <a:latin typeface="Aptos"/>
              </a:rPr>
              <a:t>Resultado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606040"/>
            <a:ext cx="2103120" cy="42062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160" b="0">
                <a:solidFill>
                  <a:srgbClr val="69696C"/>
                </a:solidFill>
                <a:latin typeface="Aptos"/>
              </a:rPr>
              <a:t>3 cubiertos y 7 parciales. La matriz distingue evidencia suficiente de brechas documentales.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1993392"/>
            <a:ext cx="251460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63640" y="1993392"/>
            <a:ext cx="73152" cy="1170432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157984"/>
            <a:ext cx="2103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73739"/>
                </a:solidFill>
                <a:latin typeface="Aptos"/>
              </a:rPr>
              <a:t>Evidencias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2606040"/>
            <a:ext cx="2103120" cy="42062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140" b="0">
                <a:solidFill>
                  <a:srgbClr val="69696C"/>
                </a:solidFill>
                <a:latin typeface="Aptos"/>
              </a:rPr>
              <a:t>PRO-EXC-RIE, PRO-EXC-AMB, PRO-EXC-SOP, PRO-EXC-REQ y proceso de Excelencia.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06840" y="1993392"/>
            <a:ext cx="251460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06840" y="1993392"/>
            <a:ext cx="73152" cy="1170432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2157984"/>
            <a:ext cx="2103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73739"/>
                </a:solidFill>
                <a:latin typeface="Aptos"/>
              </a:rPr>
              <a:t>Brechas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2606040"/>
            <a:ext cx="2103120" cy="42062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140" b="0">
                <a:solidFill>
                  <a:srgbClr val="69696C"/>
                </a:solidFill>
                <a:latin typeface="Aptos"/>
              </a:rPr>
              <a:t>Faltan registros/matrices integradas para aspectos, SST, objetivos SIG y cambios.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" y="3493008"/>
            <a:ext cx="1325880" cy="310896"/>
          </a:xfrm>
          <a:prstGeom prst="round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2688" y="3566160"/>
            <a:ext cx="1188720" cy="1188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880" b="1">
                <a:solidFill>
                  <a:srgbClr val="FFFFFF"/>
                </a:solidFill>
                <a:latin typeface="Aptos"/>
              </a:rPr>
              <a:t>Cubierto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23160" y="3538727"/>
            <a:ext cx="836676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80" b="0">
                <a:solidFill>
                  <a:srgbClr val="373739"/>
                </a:solidFill>
                <a:latin typeface="Aptos"/>
              </a:rPr>
              <a:t>Riesgos y oportunidades; requisitos legales; planificación de acciones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68680" y="3931920"/>
            <a:ext cx="1325880" cy="310896"/>
          </a:xfrm>
          <a:prstGeom prst="round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4005072"/>
            <a:ext cx="1188720" cy="1188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880" b="1">
                <a:solidFill>
                  <a:srgbClr val="FFFFFF"/>
                </a:solidFill>
                <a:latin typeface="Aptos"/>
              </a:rPr>
              <a:t>Parcial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23160" y="3977639"/>
            <a:ext cx="836676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80" b="0">
                <a:solidFill>
                  <a:srgbClr val="373739"/>
                </a:solidFill>
                <a:latin typeface="Aptos"/>
              </a:rPr>
              <a:t>Aspectos ambientales; peligros/riesgos/oportunidades SST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68680" y="4370831"/>
            <a:ext cx="1325880" cy="310896"/>
          </a:xfrm>
          <a:prstGeom prst="round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32688" y="4443983"/>
            <a:ext cx="1188720" cy="1188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880" b="1">
                <a:solidFill>
                  <a:srgbClr val="FFFFFF"/>
                </a:solidFill>
                <a:latin typeface="Aptos"/>
              </a:rPr>
              <a:t>Parcial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23160" y="4416551"/>
            <a:ext cx="836676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80" b="0">
                <a:solidFill>
                  <a:srgbClr val="373739"/>
                </a:solidFill>
                <a:latin typeface="Aptos"/>
              </a:rPr>
              <a:t>Objetivos del sistema y planificación para lograrlos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68680" y="4809744"/>
            <a:ext cx="1325880" cy="310896"/>
          </a:xfrm>
          <a:prstGeom prst="round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32688" y="4882896"/>
            <a:ext cx="1188720" cy="1188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880" b="1">
                <a:solidFill>
                  <a:srgbClr val="FFFFFF"/>
                </a:solidFill>
                <a:latin typeface="Aptos"/>
              </a:rPr>
              <a:t>Parcial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23160" y="4855464"/>
            <a:ext cx="836676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80" b="0">
                <a:solidFill>
                  <a:srgbClr val="373739"/>
                </a:solidFill>
                <a:latin typeface="Aptos"/>
              </a:rPr>
              <a:t>Gestión del cambio: consecuencias, recursos, responsables e impactos SST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68680" y="5440680"/>
            <a:ext cx="10469880" cy="566928"/>
          </a:xfrm>
          <a:prstGeom prst="round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24712" y="5641848"/>
            <a:ext cx="9957815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373739"/>
                </a:solidFill>
                <a:latin typeface="Aptos"/>
              </a:rPr>
              <a:t>Mensaje para la charla: el agente acelera lectura, cruce y trazabilidad; el experto conserva el criterio de cobertura y la decisión final.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68680" y="5440680"/>
            <a:ext cx="73152" cy="566928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6446520"/>
            <a:ext cx="402336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EXCELENCIA · IA organizacional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10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6345936"/>
            <a:ext cx="10881360" cy="9144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77724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0ADB5"/>
                </a:solidFill>
                <a:latin typeface="Aptos"/>
              </a:rPr>
              <a:t>CASO APLICADO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85800"/>
            <a:ext cx="896112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373739"/>
                </a:solidFill>
                <a:latin typeface="Aptos"/>
              </a:rPr>
              <a:t>Subejemplo PNC · Matriz de gaps VMOS</a:t>
            </a:r>
          </a:p>
        </p:txBody>
      </p:sp>
      <p:pic>
        <p:nvPicPr>
          <p:cNvPr id="4" name="Picture 3" descr="excelenci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92608"/>
            <a:ext cx="2148840" cy="53721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58368" y="1481328"/>
            <a:ext cx="292608" cy="50292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5" y="1481328"/>
            <a:ext cx="292608" cy="50292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26464" y="1481328"/>
            <a:ext cx="292608" cy="50292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10512" y="1481328"/>
            <a:ext cx="292608" cy="50292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1627632"/>
            <a:ext cx="996696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9696C"/>
                </a:solidFill>
                <a:latin typeface="Aptos"/>
              </a:rPr>
              <a:t>Muestra real tomada de matriz-gaps-pnc-vmos.xlsx · filas Excel 14 a 22 · ids 13 a 21 · Liderazgo / Factor 1.3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1993392"/>
            <a:ext cx="251460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993392"/>
            <a:ext cx="73152" cy="1170432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157984"/>
            <a:ext cx="2103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73739"/>
                </a:solidFill>
                <a:latin typeface="Aptos"/>
              </a:rPr>
              <a:t>Alcance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606040"/>
            <a:ext cx="2103120" cy="42062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160" b="0">
                <a:solidFill>
                  <a:srgbClr val="69696C"/>
                </a:solidFill>
                <a:latin typeface="Aptos"/>
              </a:rPr>
              <a:t>9 aspectos del factor 1.3: planeamiento estratégico y operativo.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20440" y="1993392"/>
            <a:ext cx="251460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20440" y="1993392"/>
            <a:ext cx="73152" cy="1170432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49039" y="2157984"/>
            <a:ext cx="2103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73739"/>
                </a:solidFill>
                <a:latin typeface="Aptos"/>
              </a:rPr>
              <a:t>Resultado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606040"/>
            <a:ext cx="2103120" cy="42062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120" b="0">
                <a:solidFill>
                  <a:srgbClr val="69696C"/>
                </a:solidFill>
                <a:latin typeface="Aptos"/>
              </a:rPr>
              <a:t>9 cubiertos, 0 parciales, 0 no cubiertos según evidencia documental cargada.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1993392"/>
            <a:ext cx="251460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63640" y="1993392"/>
            <a:ext cx="73152" cy="1170432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157984"/>
            <a:ext cx="2103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73739"/>
                </a:solidFill>
                <a:latin typeface="Aptos"/>
              </a:rPr>
              <a:t>Evidencias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2606040"/>
            <a:ext cx="2103120" cy="42062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9696C"/>
                </a:solidFill>
                <a:latin typeface="Aptos"/>
              </a:rPr>
              <a:t>Estrategia, Sustentabilidad, Finanzas, Personas, Riesgos, Comunicaciones e Innovación.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06840" y="1993392"/>
            <a:ext cx="251460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06840" y="1993392"/>
            <a:ext cx="73152" cy="1170432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2157984"/>
            <a:ext cx="2103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73739"/>
                </a:solidFill>
                <a:latin typeface="Aptos"/>
              </a:rPr>
              <a:t>Salida útil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2606040"/>
            <a:ext cx="2103120" cy="42062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160" b="0">
                <a:solidFill>
                  <a:srgbClr val="69696C"/>
                </a:solidFill>
                <a:latin typeface="Aptos"/>
              </a:rPr>
              <a:t>Cobertura por aspecto + fuente documental para revisión experta.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" y="3493008"/>
            <a:ext cx="1325880" cy="310896"/>
          </a:xfrm>
          <a:prstGeom prst="round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2688" y="3566160"/>
            <a:ext cx="1188720" cy="1188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880" b="1">
                <a:solidFill>
                  <a:srgbClr val="FFFFFF"/>
                </a:solidFill>
                <a:latin typeface="Aptos"/>
              </a:rPr>
              <a:t>Cubierto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23160" y="3538727"/>
            <a:ext cx="836676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80" b="0">
                <a:solidFill>
                  <a:srgbClr val="373739"/>
                </a:solidFill>
                <a:latin typeface="Aptos"/>
              </a:rPr>
              <a:t>a-b: horizonte, información decisoria y objetivos estratégicos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68680" y="3931920"/>
            <a:ext cx="1325880" cy="310896"/>
          </a:xfrm>
          <a:prstGeom prst="round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4005072"/>
            <a:ext cx="1188720" cy="1188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880" b="1">
                <a:solidFill>
                  <a:srgbClr val="FFFFFF"/>
                </a:solidFill>
                <a:latin typeface="Aptos"/>
              </a:rPr>
              <a:t>Cubierto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23160" y="3977639"/>
            <a:ext cx="836676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80" b="0">
                <a:solidFill>
                  <a:srgbClr val="373739"/>
                </a:solidFill>
                <a:latin typeface="Aptos"/>
              </a:rPr>
              <a:t>c-d: innovación y despliegue de objetivos en planes operativos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68680" y="4370831"/>
            <a:ext cx="1325880" cy="310896"/>
          </a:xfrm>
          <a:prstGeom prst="round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32688" y="4443983"/>
            <a:ext cx="1188720" cy="1188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880" b="1">
                <a:solidFill>
                  <a:srgbClr val="FFFFFF"/>
                </a:solidFill>
                <a:latin typeface="Aptos"/>
              </a:rPr>
              <a:t>Cubierto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23160" y="4416551"/>
            <a:ext cx="836676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80" b="0">
                <a:solidFill>
                  <a:srgbClr val="373739"/>
                </a:solidFill>
                <a:latin typeface="Aptos"/>
              </a:rPr>
              <a:t>e-g: riesgos, recursos e indicadores clave de desempeño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68680" y="4809744"/>
            <a:ext cx="1325880" cy="310896"/>
          </a:xfrm>
          <a:prstGeom prst="round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32688" y="4882896"/>
            <a:ext cx="1188720" cy="1188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880" b="1">
                <a:solidFill>
                  <a:srgbClr val="FFFFFF"/>
                </a:solidFill>
                <a:latin typeface="Aptos"/>
              </a:rPr>
              <a:t>Cubierto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23160" y="4855464"/>
            <a:ext cx="836676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80" b="0">
                <a:solidFill>
                  <a:srgbClr val="373739"/>
                </a:solidFill>
                <a:latin typeface="Aptos"/>
              </a:rPr>
              <a:t>h-i: comunicación de estrategias y revisión de planes/objetivos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68680" y="5440680"/>
            <a:ext cx="10469880" cy="566928"/>
          </a:xfrm>
          <a:prstGeom prst="round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24712" y="5641848"/>
            <a:ext cx="9957815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373739"/>
                </a:solidFill>
                <a:latin typeface="Aptos"/>
              </a:rPr>
              <a:t>Mensaje para la charla: el agente ordena la cobertura PNC por aspecto; el experto conserva el juicio de madurez.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68680" y="5440680"/>
            <a:ext cx="73152" cy="566928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6446520"/>
            <a:ext cx="402336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EXCELENCIA · IA organizacional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11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6345936"/>
            <a:ext cx="10881360" cy="9144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77724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0ADB5"/>
                </a:solidFill>
                <a:latin typeface="Aptos"/>
              </a:rPr>
              <a:t>SÍNTESIS EJECUTIVA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85800"/>
            <a:ext cx="896112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373739"/>
                </a:solidFill>
                <a:latin typeface="Aptos"/>
              </a:rPr>
              <a:t>Cierre: la secuencia de madurez</a:t>
            </a:r>
          </a:p>
        </p:txBody>
      </p:sp>
      <p:pic>
        <p:nvPicPr>
          <p:cNvPr id="4" name="Picture 3" descr="excelenci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92608"/>
            <a:ext cx="2148840" cy="53721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58368" y="1481328"/>
            <a:ext cx="292608" cy="50292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5" y="1481328"/>
            <a:ext cx="292608" cy="50292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26464" y="1481328"/>
            <a:ext cx="292608" cy="50292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10512" y="1481328"/>
            <a:ext cx="292608" cy="50292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14400" y="1965960"/>
            <a:ext cx="29718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14400" y="1965960"/>
            <a:ext cx="73152" cy="1417320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2130552"/>
            <a:ext cx="25603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373739"/>
                </a:solidFill>
                <a:latin typeface="Aptos"/>
              </a:rPr>
              <a:t>Información confiable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578608"/>
            <a:ext cx="2560320" cy="6675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60" b="0">
                <a:solidFill>
                  <a:srgbClr val="69696C"/>
                </a:solidFill>
                <a:latin typeface="Aptos"/>
              </a:rPr>
              <a:t>documentación vigente + datos íntegros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2450592"/>
            <a:ext cx="32004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69696C"/>
                </a:solidFill>
                <a:latin typeface="Aptos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0" y="1965960"/>
            <a:ext cx="29718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0" y="1965960"/>
            <a:ext cx="73152" cy="1417320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00600" y="2130552"/>
            <a:ext cx="25603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373739"/>
                </a:solidFill>
                <a:latin typeface="Aptos"/>
              </a:rPr>
              <a:t>IA con gobierno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0600" y="2578608"/>
            <a:ext cx="2560320" cy="6675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60" b="0">
                <a:solidFill>
                  <a:srgbClr val="69696C"/>
                </a:solidFill>
                <a:latin typeface="Aptos"/>
              </a:rPr>
              <a:t>fuentes, permisos, validación y trazabilidad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35240" y="2450592"/>
            <a:ext cx="32004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69696C"/>
                </a:solidFill>
                <a:latin typeface="Aptos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0" y="1965960"/>
            <a:ext cx="29718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1965960"/>
            <a:ext cx="73152" cy="1417320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58200" y="2130552"/>
            <a:ext cx="25603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373739"/>
                </a:solidFill>
                <a:latin typeface="Aptos"/>
              </a:rPr>
              <a:t>Agentes gobernados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578608"/>
            <a:ext cx="2560320" cy="6675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60" b="0">
                <a:solidFill>
                  <a:srgbClr val="69696C"/>
                </a:solidFill>
                <a:latin typeface="Aptos"/>
              </a:rPr>
              <a:t>tareas/procesos con métricas y resultados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4400" y="4160520"/>
            <a:ext cx="10241280" cy="914400"/>
          </a:xfrm>
          <a:prstGeom prst="round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70432" y="4361688"/>
            <a:ext cx="9729215" cy="5303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373739"/>
                </a:solidFill>
                <a:latin typeface="Aptos"/>
              </a:rPr>
              <a:t>La pregunta directiva no es solamente qué IA vamos a usar. Es si tenemos la información, los datos y el gobierno necesarios para que la IA cree valor real.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4400" y="4160520"/>
            <a:ext cx="73152" cy="914400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1560" y="5532120"/>
            <a:ext cx="996696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373739"/>
                </a:solidFill>
                <a:latin typeface="Aptos"/>
              </a:rPr>
              <a:t>EXCELENCIA prepara la base confiable para IA y diseña agentes gobernados orientados a resultados.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446520"/>
            <a:ext cx="402336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EXCELENCIA · IA organizacional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345936"/>
            <a:ext cx="10881360" cy="9144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