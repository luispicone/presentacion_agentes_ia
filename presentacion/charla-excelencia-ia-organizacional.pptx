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138160" y="-137160"/>
            <a:ext cx="68580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8823960" y="-137160"/>
            <a:ext cx="68580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509760" y="-137160"/>
            <a:ext cx="68580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195560" y="-137160"/>
            <a:ext cx="68580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02920"/>
            <a:ext cx="292608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1828800"/>
            <a:ext cx="717804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2000"/>
              </a:lnSpc>
            </a:pPr>
            <a:r>
              <a:rPr sz="3200" b="1">
                <a:solidFill>
                  <a:srgbClr val="373739"/>
                </a:solidFill>
                <a:latin typeface="Aptos"/>
              </a:rPr>
              <a:t>IA organizacional:
de información confiable a agentes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29000"/>
            <a:ext cx="6309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50" b="0">
                <a:solidFill>
                  <a:srgbClr val="69696C"/>
                </a:solidFill>
                <a:latin typeface="Aptos"/>
              </a:rPr>
              <a:t>Cómo preparar documentación, datos y procesos para incorporar IA con valor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572000"/>
            <a:ext cx="1234440" cy="43891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690872"/>
            <a:ext cx="1088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4572000"/>
            <a:ext cx="2286000" cy="438912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4690872"/>
            <a:ext cx="213969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CEOs y directores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572000"/>
            <a:ext cx="1920240" cy="438912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690872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Gestión +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97880"/>
            <a:ext cx="429768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Luis Picone · EXCELENCIA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La tesis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46320" cy="14173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67128"/>
            <a:ext cx="4334256" cy="10332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empieza por el algoritmo ni por el agente. Empieza por la calidad de la información sobre la que va a trabajar.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73152" cy="14173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73152" cy="24688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Documentación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Vigente, trazable y fiel a la realidad operativa.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73152" cy="2468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Íntegros, consistentes, comparables y gobernados.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1874519"/>
            <a:ext cx="13258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87000" y="1874519"/>
            <a:ext cx="73152" cy="24688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2039112"/>
            <a:ext cx="914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Gobierno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487168"/>
            <a:ext cx="91440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Fuentes, permisos, criterios y validación.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977639"/>
            <a:ext cx="521208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Sin base confiable, la IA amplifica inconsistencias.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Con base confiable, la IA puede acelerar análisis, trazabilidad y decisiones.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BASE DOCUMENTAL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Antes de IA: documentación fiel a la realidad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7492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La documentación debe representar cómo opera realmente la organización.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Los repositorios deben ser robustos, actualizados, accesibles y trazables.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Una IA puede responder con forma profesional aunque la fuente sea débil.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Si el proceso real y el documentado no coinciden, la IA trabaja sobre una ficción ordenada.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754880" cy="11430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67128"/>
            <a:ext cx="4242816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primera pregunta no es qué IA usar. Es si existe información confiable para que la IA pueda trabajar.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965960"/>
            <a:ext cx="73152" cy="11430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4754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703320"/>
            <a:ext cx="73152" cy="1325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867911"/>
            <a:ext cx="4343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Riesgo ejecutivo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315968"/>
            <a:ext cx="434340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Decisiones apoyadas en documentos no vigentes, evidencia difícil de auditar y pérdida de confianza por problemas de 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INTEGRIDAD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Datos íntegros: la otra mitad de la base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2024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Completos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Cobertura suficiente para analizar sin sesgos críticos.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73152" cy="192024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Consistentes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Mismas reglas, definiciones y criterios entre áreas.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874519"/>
            <a:ext cx="73152" cy="1920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Trazables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Origen, responsable, actualización y evidencia.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874519"/>
            <a:ext cx="73152" cy="19202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Gobernados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Permisos, usos, controles y validación.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434840"/>
            <a:ext cx="9966960" cy="9601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3312" y="4636007"/>
            <a:ext cx="9454896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puede acelerar análisis; no puede reemplazar la responsabilidad organizacional sobre la calidad de los datos.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4434840"/>
            <a:ext cx="73152" cy="9601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RIESGO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El riesgo de incorporar IA sobre una base débil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Automatizar errores existentes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74519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Dar velocidad a procesos mal definidos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73152" cy="8686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Usar documentos no vigentes como fuente de verdad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08960"/>
            <a:ext cx="73152" cy="86868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Mezclar criterios entre áreas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108960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Exponer información sensible sin permisos claros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108960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Generar respuestas difíciles de validar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98348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5184648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Sin base confiable, la IA no transforma la organización: amplifica sus inconsistencias.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98348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ROL DE EXCELENCIA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Dónde puede ayudar EXCELENCIA antes del agente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73152" cy="16459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Diagnosticar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madurez documental y de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0" y="2148840"/>
            <a:ext cx="73152" cy="16459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Ordenar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repositorios, procesos y fuentes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2148840"/>
            <a:ext cx="73152" cy="16459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Gobernar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criterios, permisos, validación y riesgos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2148840"/>
            <a:ext cx="73152" cy="16459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Priorizar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casos de uso por valor y criticidad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617720"/>
            <a:ext cx="10149840" cy="82296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6152" y="4818888"/>
            <a:ext cx="963777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Antes de diseñar agentes, hay que preparar el terreno: documentación, datos, procesos, criterios y gobierno.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617720"/>
            <a:ext cx="73152" cy="822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MADUREZ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De usar IA a diseñar Agentes de 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74519"/>
            <a:ext cx="73152" cy="24231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Uso puntual de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Una persona pregunta, obtiene una respuesta y resuelve una tarea aislada.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74519"/>
            <a:ext cx="73152" cy="24231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IA asistida con buena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La organización usa fuentes confiables y criterios comunes.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73152" cy="24231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Agente de IA gobernado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30" b="0">
                <a:solidFill>
                  <a:srgbClr val="69696C"/>
                </a:solidFill>
                <a:latin typeface="Aptos"/>
              </a:rPr>
              <a:t>Sistema diseñado para una tarea o proceso, con propósito, fuentes, reglas, herramientas, límites, trazabilidad, validación y métricas.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892040"/>
            <a:ext cx="955548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5093207"/>
            <a:ext cx="904341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agente no es el primer paso. Es el paso superador cuando la organización ya sabe qué información, proceso y criterio quiere gobernar.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ALCANCE POTENCIAL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Procesos donde la IA puede agregar valor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Dirección y gobierno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Estrategia y planeamiento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Calidad y sistemas de gestión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Operaciones y seguridad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Comercial y clientes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Finanzas y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Legales y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088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Personas y cultura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Tecnología y sistemas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Compras y proveedores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Comunicación y sostenibilidad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9088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Gestión documental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754880"/>
            <a:ext cx="1014984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4956048"/>
            <a:ext cx="9637776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relevante no es si la IA puede aportar valor, sino qué información necesita, qué tarea conviene delegar, con qué autonomía y con qué controles.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75488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Caso único · Documentación, calidad,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874519"/>
            <a:ext cx="566928" cy="56692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Base documental
analizable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1874519"/>
            <a:ext cx="566928" cy="56692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561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Cruce contra
ISO y PNC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1874519"/>
            <a:ext cx="566928" cy="566928"/>
          </a:xfrm>
          <a:prstGeom prst="ellipse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Evidencias, brechas
y oportunidades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9235439" y="1874519"/>
            <a:ext cx="566928" cy="566928"/>
          </a:xfrm>
          <a:prstGeom prst="ellipse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8671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Validación
experta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154680"/>
            <a:ext cx="73152" cy="12344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ISO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Requisitos, evidencia, cobertura, brechas y acciones de cierre.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154680"/>
            <a:ext cx="73152" cy="12344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PNC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Modelo de excelencia, fortalezas, oportunidades de mejora e insumos de evaluación.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89204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152" y="5093207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reemplaza el criterio experto; lo potencia cuando trabaja sobre documentación confiable.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ISO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692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9696C"/>
                </a:solidFill>
                <a:latin typeface="Aptos"/>
              </a:rPr>
              <a:t>Muestra real tomada de matriz-gaps-iso-vmos.xlsx · filas Excel 14 a 23 · ids 13 a 22 · cláusula 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10 requisitos ISO de planificación: riesgos, ambiente, SST, legales, objetivos y cambios.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3 cubiertos y 7 parciales. La matriz distingue evidencia suficiente de brechas documentales.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PRO-EXC-RIE, PRO-EXC-AMB, PRO-EXC-SOP, PRO-EXC-REQ y proceso de Excelencia.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Brechas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Faltan registros/matrices integradas para aspectos, SST, objetivos SIG y cambios.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66160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538727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Riesgos y oportunidades; requisitos legales; planificación de acciones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931920"/>
            <a:ext cx="1325880" cy="310896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005072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977639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Aspectos ambientales; peligros/riesgos/oportunidades SST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370831"/>
            <a:ext cx="1325880" cy="310896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443983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416551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Objetivos del sistema y planificación para lograrlos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809744"/>
            <a:ext cx="1325880" cy="310896"/>
          </a:xfrm>
          <a:prstGeom prst="round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882896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855464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Gestión del cambio: consecuencias, recursos, responsables e impactos SST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acelera lectura, cruce y trazabilidad; el experto conserva el criterio de cobertura y la decisión final.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PNC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966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Muestra real tomada de matriz-gaps-pnc-vmos.xlsx · filas Excel 14 a 22 · ids 13 a 21 · Liderazgo / Factor 1.3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9 aspectos del factor 1.3: planeamiento estratégico y operativo.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69696C"/>
                </a:solidFill>
                <a:latin typeface="Aptos"/>
              </a:rPr>
              <a:t>9 cubiertos, 0 parciales, 0 no cubiertos según evidencia documental cargada.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Estrategia, Sustentabilidad, Finanzas, Personas, Riesgos, Comunicaciones e Innovación.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Salida útil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Cobertura por aspecto + fuente documental para revisión experta.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66160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538727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a-b: horizonte, información decisoria y objetivos estratégicos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931920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005072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977639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c-d: innovación y despliegue de objetivos en planes operativos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370831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443983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416551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e-g: riesgos, recursos e indicadores clave de desempeño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809744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882896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855464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h-i: comunicación de estrategias y revisión de planes/objetivos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ordena la cobertura PNC por aspecto; el experto conserva el juicio de madurez.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SÍNTESIS EJECUTIVA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Cierre: la secuencia de madurez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965960"/>
            <a:ext cx="73152" cy="14173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Información confiable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documentación vigente + datos íntegros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65960"/>
            <a:ext cx="73152" cy="14173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IA con gobierno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fuentes, permisos, validación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965960"/>
            <a:ext cx="73152" cy="14173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Agentes gobernados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tareas/procesos con métricas y resultados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361688"/>
            <a:ext cx="972921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directiva no es solamente qué IA vamos a usar. Es si tenemos la información, los datos y el gobierno necesarios para que la IA cree valor real.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60520"/>
            <a:ext cx="73152" cy="9144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532120"/>
            <a:ext cx="9966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EXCELENCIA prepara la base confiable para IA y diseña agentes gobernados orientados a resultados.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VALOR TANGIBLE E INTANGIBLE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Beneficios esperables en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65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Tiempo experto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Menos tiempo en búsqueda documental, lectura repetitiva, comparación y armado de matrices.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1874519"/>
            <a:ext cx="73152" cy="19659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Consistencia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Mismo criterio entre filas, menor variabilidad y estructura homogénea de análisis.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74519"/>
            <a:ext cx="73152" cy="196596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Trazabilidad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Requisito o criterio → evidencia → fuente → juicio experto → acción.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874519"/>
            <a:ext cx="73152" cy="19659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Foco directivo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Más tiempo para validar, priorizar brechas, decidir y orientar planes de mejora.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4663440"/>
            <a:ext cx="1046988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4712" y="4864607"/>
            <a:ext cx="9957815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beneficio no es reemplazar al experto: es devolverle tiempo y foco para decidir mejor.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66344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715000"/>
            <a:ext cx="102412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Aplicado a ISO y PNC: acelerar el ordenamiento de evidencia sin resignar criterio, trazabilidad ni validación humana.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641080" y="-137160"/>
            <a:ext cx="59436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9189720" y="-137160"/>
            <a:ext cx="59436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738360" y="-137160"/>
            <a:ext cx="59436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287000" y="-137160"/>
            <a:ext cx="59436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777240"/>
            <a:ext cx="4114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ADB5"/>
                </a:solidFill>
                <a:latin typeface="Aptos"/>
              </a:rPr>
              <a:t>PREGUNTA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7315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373739"/>
                </a:solidFill>
                <a:latin typeface="Aptos"/>
              </a:rPr>
              <a:t>Si mañana incorporáramos IA en nuestros procesos críticos, ¿trabajaría sobre la mejor versión de nuestra organización o sobre nuestro desorden documental?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4251960"/>
            <a:ext cx="69494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53128"/>
            <a:ext cx="643737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Empezar por un diagnóstico: información confiable, datos íntegros, procesos claros y gobierno suficiente para que la IA cree valor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425196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50992"/>
            <a:ext cx="68580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9696C"/>
                </a:solidFill>
                <a:latin typeface="Aptos"/>
              </a:rPr>
              <a:t>EXCELENCIA · Preparar la base confiable para IA y diseñar agentes gobernados orientados a resultados.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