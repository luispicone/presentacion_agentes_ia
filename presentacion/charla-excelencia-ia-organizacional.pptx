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arallelogram 1"/>
          <p:cNvSpPr/>
          <p:nvPr/>
        </p:nvSpPr>
        <p:spPr>
          <a:xfrm>
            <a:off x="8138160" y="-137160"/>
            <a:ext cx="685800" cy="7269480"/>
          </a:xfrm>
          <a:prstGeom prst="parallelogram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8823960" y="-137160"/>
            <a:ext cx="685800" cy="7269480"/>
          </a:xfrm>
          <a:prstGeom prst="parallelogram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9509760" y="-137160"/>
            <a:ext cx="685800" cy="7269480"/>
          </a:xfrm>
          <a:prstGeom prst="parallelogram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arallelogram 4"/>
          <p:cNvSpPr/>
          <p:nvPr/>
        </p:nvSpPr>
        <p:spPr>
          <a:xfrm>
            <a:off x="10195560" y="-137160"/>
            <a:ext cx="685800" cy="7269480"/>
          </a:xfrm>
          <a:prstGeom prst="parallelogram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502920"/>
            <a:ext cx="2926080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" y="1828800"/>
            <a:ext cx="7178040" cy="1417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92000"/>
              </a:lnSpc>
            </a:pPr>
            <a:r>
              <a:rPr sz="3200" b="1">
                <a:solidFill>
                  <a:srgbClr val="373739"/>
                </a:solidFill>
                <a:latin typeface="Aptos"/>
              </a:rPr>
              <a:t>IA organizacional:
de información confiable a agentes gobernados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3429000"/>
            <a:ext cx="6309360" cy="594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850" b="0">
                <a:solidFill>
                  <a:srgbClr val="69696C"/>
                </a:solidFill>
                <a:latin typeface="Aptos"/>
              </a:rPr>
              <a:t>Cómo preparar documentación, datos y procesos para incorporar IA con valor real.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4572000"/>
            <a:ext cx="1234440" cy="438912"/>
          </a:xfrm>
          <a:prstGeom prst="round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4690872"/>
            <a:ext cx="1088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Aptos"/>
              </a:rPr>
              <a:t>30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21408" y="4572000"/>
            <a:ext cx="2286000" cy="438912"/>
          </a:xfrm>
          <a:prstGeom prst="round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94560" y="4690872"/>
            <a:ext cx="213969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Aptos"/>
              </a:rPr>
              <a:t>CEOs y directores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0" y="4572000"/>
            <a:ext cx="1920240" cy="438912"/>
          </a:xfrm>
          <a:prstGeom prst="round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4690872"/>
            <a:ext cx="17739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Aptos"/>
              </a:rPr>
              <a:t>Gestión + 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5897880"/>
            <a:ext cx="429768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Luis Picone · EXCELENCIA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PUNTO DE PARTIDA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La tesis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965960"/>
            <a:ext cx="4846320" cy="1417320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3271" y="2167128"/>
            <a:ext cx="4334256" cy="10332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La IA no empieza por el algoritmo ni por el agente. Empieza por la calidad de la información sobre la que va a trabajar.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965960"/>
            <a:ext cx="73152" cy="141732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080760" y="1874519"/>
            <a:ext cx="18288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80760" y="1874519"/>
            <a:ext cx="73152" cy="2468880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2039112"/>
            <a:ext cx="14173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Documentación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487168"/>
            <a:ext cx="1417320" cy="17190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Vigente, trazable y fiel a la realidad operativa.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3879" y="1874519"/>
            <a:ext cx="182880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3879" y="1874519"/>
            <a:ext cx="73152" cy="2468880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2039112"/>
            <a:ext cx="14173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Datos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487168"/>
            <a:ext cx="1417320" cy="17190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Íntegros, consistentes, comparables y gobernados.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87000" y="1874519"/>
            <a:ext cx="132588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287000" y="1874519"/>
            <a:ext cx="73152" cy="2468880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0" y="2039112"/>
            <a:ext cx="9144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Gobierno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2487168"/>
            <a:ext cx="914400" cy="17190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Fuentes, permisos, criterios y validación.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3977639"/>
            <a:ext cx="5212080" cy="1463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4000"/>
              </a:lnSpc>
              <a:spcAft>
                <a:spcPts val="900"/>
              </a:spcAft>
              <a:defRPr sz="1650">
                <a:solidFill>
                  <a:srgbClr val="373739"/>
                </a:solidFill>
                <a:latin typeface="Aptos"/>
              </a:defRPr>
            </a:pPr>
            <a:r>
              <a:t>• Sin base confiable, la IA amplifica inconsistencias.</a:t>
            </a:r>
          </a:p>
          <a:p>
            <a:pPr>
              <a:lnSpc>
                <a:spcPct val="104000"/>
              </a:lnSpc>
              <a:spcAft>
                <a:spcPts val="900"/>
              </a:spcAft>
              <a:defRPr sz="1650">
                <a:solidFill>
                  <a:srgbClr val="373739"/>
                </a:solidFill>
                <a:latin typeface="Aptos"/>
              </a:defRPr>
            </a:pPr>
            <a:r>
              <a:t>• Con base confiable, la IA puede acelerar análisis, trazabilidad y decisiones.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BASE DOCUMENTAL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Antes de IA: documentación fiel a la realidad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74519"/>
            <a:ext cx="5074920" cy="3108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lnSpc>
                <a:spcPct val="104000"/>
              </a:lnSpc>
              <a:spcAft>
                <a:spcPts val="900"/>
              </a:spcAft>
              <a:defRPr sz="1700">
                <a:solidFill>
                  <a:srgbClr val="373739"/>
                </a:solidFill>
                <a:latin typeface="Aptos"/>
              </a:defRPr>
            </a:pPr>
            <a:r>
              <a:t>• La documentación debe representar cómo opera realmente la organización.</a:t>
            </a:r>
          </a:p>
          <a:p>
            <a:pPr>
              <a:lnSpc>
                <a:spcPct val="104000"/>
              </a:lnSpc>
              <a:spcAft>
                <a:spcPts val="900"/>
              </a:spcAft>
              <a:defRPr sz="1700">
                <a:solidFill>
                  <a:srgbClr val="373739"/>
                </a:solidFill>
                <a:latin typeface="Aptos"/>
              </a:defRPr>
            </a:pPr>
            <a:r>
              <a:t>• Los repositorios deben ser robustos, actualizados, accesibles y trazables.</a:t>
            </a:r>
          </a:p>
          <a:p>
            <a:pPr>
              <a:lnSpc>
                <a:spcPct val="104000"/>
              </a:lnSpc>
              <a:spcAft>
                <a:spcPts val="900"/>
              </a:spcAft>
              <a:defRPr sz="1700">
                <a:solidFill>
                  <a:srgbClr val="373739"/>
                </a:solidFill>
                <a:latin typeface="Aptos"/>
              </a:defRPr>
            </a:pPr>
            <a:r>
              <a:t>• Una IA puede responder con forma profesional aunque la fuente sea débil.</a:t>
            </a:r>
          </a:p>
          <a:p>
            <a:pPr>
              <a:lnSpc>
                <a:spcPct val="104000"/>
              </a:lnSpc>
              <a:spcAft>
                <a:spcPts val="900"/>
              </a:spcAft>
              <a:defRPr sz="1700">
                <a:solidFill>
                  <a:srgbClr val="373739"/>
                </a:solidFill>
                <a:latin typeface="Aptos"/>
              </a:defRPr>
            </a:pPr>
            <a:r>
              <a:t>• Si el proceso real y el documentado no coinciden, la IA trabaja sobre una ficción ordenada.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965960"/>
            <a:ext cx="4754880" cy="1143000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56832" y="2167128"/>
            <a:ext cx="4242816" cy="7589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La primera pregunta no es qué IA usar. Es si existe información confiable para que la IA pueda trabajar.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965960"/>
            <a:ext cx="73152" cy="1143000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0" y="3703320"/>
            <a:ext cx="47548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0" y="3703320"/>
            <a:ext cx="73152" cy="1325880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400" y="3867911"/>
            <a:ext cx="434340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Riesgo ejecutivo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4315968"/>
            <a:ext cx="4343400" cy="5760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9696C"/>
                </a:solidFill>
                <a:latin typeface="Aptos"/>
              </a:rPr>
              <a:t>Decisiones apoyadas en documentos no vigentes, evidencia difícil de auditar y pérdida de confianza por problemas de base.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INTEGRIDAD DE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Datos íntegros: la otra mitad de la base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874519"/>
            <a:ext cx="251460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74519"/>
            <a:ext cx="73152" cy="1920240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39112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Completos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487168"/>
            <a:ext cx="2103120" cy="11704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Cobertura suficiente para analizar sin sesgos críticos.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66160" y="1874519"/>
            <a:ext cx="251460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66160" y="1874519"/>
            <a:ext cx="73152" cy="1920240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94760" y="2039112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Consistentes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60" y="2487168"/>
            <a:ext cx="2103120" cy="11704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Mismas reglas, definiciones y criterios entre áreas.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55080" y="1874519"/>
            <a:ext cx="251460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55080" y="1874519"/>
            <a:ext cx="73152" cy="1920240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039112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Trazables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487168"/>
            <a:ext cx="2103120" cy="11704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Origen, responsable, actualización y evidencia.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0" y="1874519"/>
            <a:ext cx="251460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44000" y="1874519"/>
            <a:ext cx="73152" cy="192024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72600" y="2039112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Gobernados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600" y="2487168"/>
            <a:ext cx="2103120" cy="11704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Permisos, usos, controles y validación.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97280" y="4434840"/>
            <a:ext cx="9966960" cy="960120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53312" y="4636007"/>
            <a:ext cx="9454896" cy="5760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La IA puede acelerar análisis; no puede reemplazar la responsabilidad organizacional sobre la calidad de los datos.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97280" y="4434840"/>
            <a:ext cx="73152" cy="96012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RIESGO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El riesgo de incorporar IA sobre una base débil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874519"/>
            <a:ext cx="32461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74519"/>
            <a:ext cx="73152" cy="868680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3911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73739"/>
                </a:solidFill>
                <a:latin typeface="Apto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487168"/>
            <a:ext cx="2834639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Automatizar errores existentes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59" y="1874519"/>
            <a:ext cx="32461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59" y="1874519"/>
            <a:ext cx="73152" cy="868680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59" y="203911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73739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59" y="2487168"/>
            <a:ext cx="2834639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Dar velocidad a procesos mal definidos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79" y="1874519"/>
            <a:ext cx="32461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83879" y="1874519"/>
            <a:ext cx="73152" cy="868680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203911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73739"/>
                </a:solidFill>
                <a:latin typeface="Apto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487168"/>
            <a:ext cx="2834639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Usar documentos no vigentes como fuente de verdad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3108960"/>
            <a:ext cx="32461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108960"/>
            <a:ext cx="73152" cy="86868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27355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73739"/>
                </a:solidFill>
                <a:latin typeface="Apto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721608"/>
            <a:ext cx="2834639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Mezclar criterios entre áreas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59" y="3108960"/>
            <a:ext cx="32461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80559" y="3108960"/>
            <a:ext cx="73152" cy="868680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09159" y="327355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73739"/>
                </a:solidFill>
                <a:latin typeface="Apto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9159" y="3721608"/>
            <a:ext cx="2834639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Exponer información sensible sin permisos claros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83879" y="3108960"/>
            <a:ext cx="324612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183879" y="3108960"/>
            <a:ext cx="73152" cy="868680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0" y="327355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373739"/>
                </a:solidFill>
                <a:latin typeface="Apto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3721608"/>
            <a:ext cx="2834639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69696C"/>
                </a:solidFill>
                <a:latin typeface="Aptos"/>
              </a:rPr>
              <a:t>Generar respuestas difíciles de validar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0120" y="4983480"/>
            <a:ext cx="10149840" cy="749808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16152" y="5184648"/>
            <a:ext cx="9637776" cy="3657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Sin base confiable, la IA no transforma la organización: amplifica sus inconsistencias.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" y="4983480"/>
            <a:ext cx="73152" cy="749808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ROL DE EXCELENCIA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Dónde puede ayudar EXCELENCIA antes del agente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2148840"/>
            <a:ext cx="233172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2148840"/>
            <a:ext cx="73152" cy="1645920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313432"/>
            <a:ext cx="19202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Diagnosticar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761488"/>
            <a:ext cx="1920239" cy="8961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9696C"/>
                </a:solidFill>
                <a:latin typeface="Aptos"/>
              </a:rPr>
              <a:t>madurez documental y de datos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18688" y="2697480"/>
            <a:ext cx="32004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69696C"/>
                </a:solidFill>
                <a:latin typeface="Apto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0" y="2148840"/>
            <a:ext cx="233172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0" y="2148840"/>
            <a:ext cx="73152" cy="1645920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86200" y="2313432"/>
            <a:ext cx="19202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Ordenar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2761488"/>
            <a:ext cx="1920239" cy="8961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9696C"/>
                </a:solidFill>
                <a:latin typeface="Aptos"/>
              </a:rPr>
              <a:t>repositorios, procesos y fuentes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3328" y="2697480"/>
            <a:ext cx="32004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69696C"/>
                </a:solidFill>
                <a:latin typeface="Aptos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2148840"/>
            <a:ext cx="233172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92240" y="2148840"/>
            <a:ext cx="73152" cy="1645920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20840" y="2313432"/>
            <a:ext cx="19202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Gobernar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2761488"/>
            <a:ext cx="1920239" cy="8961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9696C"/>
                </a:solidFill>
                <a:latin typeface="Aptos"/>
              </a:rPr>
              <a:t>criterios, permisos, validación y riesgos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87968" y="2697480"/>
            <a:ext cx="32004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69696C"/>
                </a:solidFill>
                <a:latin typeface="Aptos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26880" y="2148840"/>
            <a:ext cx="2331720" cy="1645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326880" y="2148840"/>
            <a:ext cx="73152" cy="164592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55480" y="2313432"/>
            <a:ext cx="19202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Priorizar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761488"/>
            <a:ext cx="1920239" cy="8961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9696C"/>
                </a:solidFill>
                <a:latin typeface="Aptos"/>
              </a:rPr>
              <a:t>casos de uso por valor y criticidad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0120" y="4617720"/>
            <a:ext cx="10149840" cy="822960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16152" y="4818888"/>
            <a:ext cx="9637776" cy="4389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Antes de diseñar agentes, hay que preparar el terreno: documentación, datos, procesos, criterios y gobierno.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0120" y="4617720"/>
            <a:ext cx="73152" cy="82296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PROCESO DE ACOMPAÑAMIENTO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La propuesta completa de EXCELENCIA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77240" y="1847088"/>
            <a:ext cx="475488" cy="475488"/>
          </a:xfrm>
          <a:prstGeom prst="ellipse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5256" y="1956816"/>
            <a:ext cx="219456" cy="1463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44168" y="1828800"/>
            <a:ext cx="2834640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44168" y="1828800"/>
            <a:ext cx="73152" cy="98755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572768" y="1993392"/>
            <a:ext cx="242316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20" b="1">
                <a:solidFill>
                  <a:srgbClr val="373739"/>
                </a:solidFill>
                <a:latin typeface="Aptos"/>
              </a:rPr>
              <a:t>Diagnosticar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72768" y="2441448"/>
            <a:ext cx="242316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40" b="0">
                <a:solidFill>
                  <a:srgbClr val="69696C"/>
                </a:solidFill>
                <a:latin typeface="Aptos"/>
              </a:rPr>
              <a:t>madurez documental y de datos</a:t>
            </a:r>
          </a:p>
        </p:txBody>
      </p:sp>
      <p:sp>
        <p:nvSpPr>
          <p:cNvPr id="15" name="Oval 14"/>
          <p:cNvSpPr/>
          <p:nvPr/>
        </p:nvSpPr>
        <p:spPr>
          <a:xfrm>
            <a:off x="4480559" y="1847088"/>
            <a:ext cx="475488" cy="475488"/>
          </a:xfrm>
          <a:prstGeom prst="ellipse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08575" y="1956816"/>
            <a:ext cx="219456" cy="1463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47488" y="1828800"/>
            <a:ext cx="2834640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47488" y="1828800"/>
            <a:ext cx="73152" cy="98755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76088" y="1993392"/>
            <a:ext cx="242316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20" b="1">
                <a:solidFill>
                  <a:srgbClr val="373739"/>
                </a:solidFill>
                <a:latin typeface="Aptos"/>
              </a:rPr>
              <a:t>Ordenar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76088" y="2441448"/>
            <a:ext cx="242316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40" b="0">
                <a:solidFill>
                  <a:srgbClr val="69696C"/>
                </a:solidFill>
                <a:latin typeface="Aptos"/>
              </a:rPr>
              <a:t>repositorios documentales y procesos</a:t>
            </a:r>
          </a:p>
        </p:txBody>
      </p:sp>
      <p:sp>
        <p:nvSpPr>
          <p:cNvPr id="21" name="Oval 20"/>
          <p:cNvSpPr/>
          <p:nvPr/>
        </p:nvSpPr>
        <p:spPr>
          <a:xfrm>
            <a:off x="8183879" y="1847088"/>
            <a:ext cx="475488" cy="475488"/>
          </a:xfrm>
          <a:prstGeom prst="ellipse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1896" y="1956816"/>
            <a:ext cx="219456" cy="1463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750807" y="1828800"/>
            <a:ext cx="2834640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750807" y="1828800"/>
            <a:ext cx="73152" cy="98755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79407" y="1993392"/>
            <a:ext cx="242316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20" b="1">
                <a:solidFill>
                  <a:srgbClr val="373739"/>
                </a:solidFill>
                <a:latin typeface="Aptos"/>
              </a:rPr>
              <a:t>Asegurar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9407" y="2441448"/>
            <a:ext cx="242316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40" b="0">
                <a:solidFill>
                  <a:srgbClr val="69696C"/>
                </a:solidFill>
                <a:latin typeface="Aptos"/>
              </a:rPr>
              <a:t>fidelidad entre documentación y realidad operativa</a:t>
            </a:r>
          </a:p>
        </p:txBody>
      </p:sp>
      <p:sp>
        <p:nvSpPr>
          <p:cNvPr id="27" name="Oval 26"/>
          <p:cNvSpPr/>
          <p:nvPr/>
        </p:nvSpPr>
        <p:spPr>
          <a:xfrm>
            <a:off x="777240" y="3328416"/>
            <a:ext cx="475488" cy="475488"/>
          </a:xfrm>
          <a:prstGeom prst="ellipse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" y="3438144"/>
            <a:ext cx="219456" cy="1463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344168" y="3310128"/>
            <a:ext cx="2834640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344168" y="3310128"/>
            <a:ext cx="73152" cy="98755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572768" y="3474720"/>
            <a:ext cx="242316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20" b="1">
                <a:solidFill>
                  <a:srgbClr val="373739"/>
                </a:solidFill>
                <a:latin typeface="Aptos"/>
              </a:rPr>
              <a:t>Definir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72768" y="3922776"/>
            <a:ext cx="242316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40" b="0">
                <a:solidFill>
                  <a:srgbClr val="69696C"/>
                </a:solidFill>
                <a:latin typeface="Aptos"/>
              </a:rPr>
              <a:t>criterios, fuentes de verdad y gobierno de información</a:t>
            </a:r>
          </a:p>
        </p:txBody>
      </p:sp>
      <p:sp>
        <p:nvSpPr>
          <p:cNvPr id="33" name="Oval 32"/>
          <p:cNvSpPr/>
          <p:nvPr/>
        </p:nvSpPr>
        <p:spPr>
          <a:xfrm>
            <a:off x="4480559" y="3328416"/>
            <a:ext cx="475488" cy="475488"/>
          </a:xfrm>
          <a:prstGeom prst="ellipse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08575" y="3438144"/>
            <a:ext cx="219456" cy="1463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47488" y="3310128"/>
            <a:ext cx="2834640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47488" y="3310128"/>
            <a:ext cx="73152" cy="98755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276088" y="3474720"/>
            <a:ext cx="242316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20" b="1">
                <a:solidFill>
                  <a:srgbClr val="373739"/>
                </a:solidFill>
                <a:latin typeface="Aptos"/>
              </a:rPr>
              <a:t>Identificar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76088" y="3922776"/>
            <a:ext cx="242316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40" b="0">
                <a:solidFill>
                  <a:srgbClr val="69696C"/>
                </a:solidFill>
                <a:latin typeface="Aptos"/>
              </a:rPr>
              <a:t>casos de uso de IA con valor real en gestión y excelencia</a:t>
            </a:r>
          </a:p>
        </p:txBody>
      </p:sp>
      <p:sp>
        <p:nvSpPr>
          <p:cNvPr id="39" name="Oval 38"/>
          <p:cNvSpPr/>
          <p:nvPr/>
        </p:nvSpPr>
        <p:spPr>
          <a:xfrm>
            <a:off x="8183879" y="3328416"/>
            <a:ext cx="475488" cy="475488"/>
          </a:xfrm>
          <a:prstGeom prst="ellipse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11896" y="3438144"/>
            <a:ext cx="219456" cy="1463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750807" y="3310128"/>
            <a:ext cx="2834640" cy="98755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750807" y="3310128"/>
            <a:ext cx="73152" cy="98755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979407" y="3474720"/>
            <a:ext cx="242316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20" b="1">
                <a:solidFill>
                  <a:srgbClr val="373739"/>
                </a:solidFill>
                <a:latin typeface="Aptos"/>
              </a:rPr>
              <a:t>Diseñar y gobernar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79407" y="3922776"/>
            <a:ext cx="2423160" cy="23774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40" b="0">
                <a:solidFill>
                  <a:srgbClr val="69696C"/>
                </a:solidFill>
                <a:latin typeface="Aptos"/>
              </a:rPr>
              <a:t>Agentes de IA implementados con controles y métricas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14400" y="5074920"/>
            <a:ext cx="10287000" cy="658368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70432" y="5276088"/>
            <a:ext cx="9774936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La propuesta no empieza ni termina en el agente: EXCELENCIA acompaña desde la base confiable hasta agentes gobernados con valor real.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14400" y="5074920"/>
            <a:ext cx="73152" cy="658368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07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MADUREZ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De usar IA a diseñar Agentes de IA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1874519"/>
            <a:ext cx="324612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1874519"/>
            <a:ext cx="73152" cy="2423160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03911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Uso puntual de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487168"/>
            <a:ext cx="2834639" cy="16733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20" b="0">
                <a:solidFill>
                  <a:srgbClr val="69696C"/>
                </a:solidFill>
                <a:latin typeface="Aptos"/>
              </a:rPr>
              <a:t>Una persona pregunta, obtiene una respuesta y resuelve una tarea aislada.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60" y="1874519"/>
            <a:ext cx="324612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0560" y="1874519"/>
            <a:ext cx="73152" cy="2423160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203911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IA asistida con buena base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2487168"/>
            <a:ext cx="2834639" cy="16733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20" b="0">
                <a:solidFill>
                  <a:srgbClr val="69696C"/>
                </a:solidFill>
                <a:latin typeface="Aptos"/>
              </a:rPr>
              <a:t>La organización usa fuentes confiables y criterios comunes.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1874519"/>
            <a:ext cx="324612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1874519"/>
            <a:ext cx="73152" cy="242316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2039112"/>
            <a:ext cx="2834639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Agente de IA gobernado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487168"/>
            <a:ext cx="2834639" cy="16733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30" b="0">
                <a:solidFill>
                  <a:srgbClr val="69696C"/>
                </a:solidFill>
                <a:latin typeface="Aptos"/>
              </a:rPr>
              <a:t>Sistema diseñado para una tarea o proceso, con propósito, fuentes, reglas, herramientas, límites, trazabilidad, validación y métricas.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" y="4892040"/>
            <a:ext cx="9555480" cy="749808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9032" y="5093207"/>
            <a:ext cx="9043415" cy="3657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El agente no es el primer paso. Es el paso superador cuando la organización ya sabe qué información, proceso y criterio quiere gobernar.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4892040"/>
            <a:ext cx="73152" cy="749808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ALCANCE POTENCIAL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Procesos donde la IA puede agregar valor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828800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1965960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Dirección y gobierno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28800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21608" y="1965960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Estrategia y planeamiento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6520" y="1828800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56248" y="1965960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Calidad y sistemas de gestión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81160" y="1828800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90888" y="1965960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Operaciones y seguridad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2578608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" y="2715768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Comercial y clientes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11880" y="2578608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21608" y="2715768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Finanzas y control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46520" y="2578608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6248" y="2715768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Legales y compliance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281160" y="2578608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90888" y="2715768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Personas y cultura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328415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6968" y="3465575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Tecnología y sistemas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11880" y="3328415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21608" y="3465575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Compras y proveedores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46520" y="3328415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56248" y="3465575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Comunicación y sostenibilidad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281160" y="3328415"/>
            <a:ext cx="2450592" cy="502920"/>
          </a:xfrm>
          <a:prstGeom prst="roundRect">
            <a:avLst/>
          </a:prstGeom>
          <a:solidFill>
            <a:srgbClr val="F4F6F8"/>
          </a:solidFill>
          <a:ln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90888" y="3465575"/>
            <a:ext cx="22311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050" b="1">
                <a:solidFill>
                  <a:srgbClr val="373739"/>
                </a:solidFill>
                <a:latin typeface="Aptos"/>
              </a:rPr>
              <a:t>Gestión documental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0120" y="4754880"/>
            <a:ext cx="10149840" cy="841248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16152" y="4956048"/>
            <a:ext cx="9637776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La pregunta relevante no es si la IA puede aportar valor, sino qué información necesita, qué tarea conviene delegar, con qué autonomía y con qué controles.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" y="4754880"/>
            <a:ext cx="73152" cy="841248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09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CASO APLICADO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Caso único · Documentación, calidad, ISO y PNC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68680" y="1874519"/>
            <a:ext cx="566928" cy="566928"/>
          </a:xfrm>
          <a:prstGeom prst="ellipse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1993392"/>
            <a:ext cx="32004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1828800"/>
            <a:ext cx="173736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373739"/>
                </a:solidFill>
                <a:latin typeface="Aptos"/>
              </a:rPr>
              <a:t>Base documental
analizable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91256" y="2029968"/>
            <a:ext cx="256032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69696C"/>
                </a:solidFill>
                <a:latin typeface="Aptos"/>
              </a:rPr>
              <a:t>→</a:t>
            </a:r>
          </a:p>
        </p:txBody>
      </p:sp>
      <p:sp>
        <p:nvSpPr>
          <p:cNvPr id="13" name="Oval 12"/>
          <p:cNvSpPr/>
          <p:nvPr/>
        </p:nvSpPr>
        <p:spPr>
          <a:xfrm>
            <a:off x="3657600" y="1874519"/>
            <a:ext cx="566928" cy="566928"/>
          </a:xfrm>
          <a:prstGeom prst="ellipse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85615" y="1993392"/>
            <a:ext cx="32004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0832" y="1828800"/>
            <a:ext cx="173736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373739"/>
                </a:solidFill>
                <a:latin typeface="Aptos"/>
              </a:rPr>
              <a:t>Cruce contra
ISO y PNC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0176" y="2029968"/>
            <a:ext cx="256032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69696C"/>
                </a:solidFill>
                <a:latin typeface="Aptos"/>
              </a:rPr>
              <a:t>→</a:t>
            </a:r>
          </a:p>
        </p:txBody>
      </p:sp>
      <p:sp>
        <p:nvSpPr>
          <p:cNvPr id="17" name="Oval 16"/>
          <p:cNvSpPr/>
          <p:nvPr/>
        </p:nvSpPr>
        <p:spPr>
          <a:xfrm>
            <a:off x="6446520" y="1874519"/>
            <a:ext cx="566928" cy="566928"/>
          </a:xfrm>
          <a:prstGeom prst="ellipse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74536" y="1993392"/>
            <a:ext cx="32004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59752" y="1828800"/>
            <a:ext cx="173736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373739"/>
                </a:solidFill>
                <a:latin typeface="Aptos"/>
              </a:rPr>
              <a:t>Evidencias, brechas
y oportunidades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69096" y="2029968"/>
            <a:ext cx="256032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69696C"/>
                </a:solidFill>
                <a:latin typeface="Aptos"/>
              </a:rPr>
              <a:t>→</a:t>
            </a:r>
          </a:p>
        </p:txBody>
      </p:sp>
      <p:sp>
        <p:nvSpPr>
          <p:cNvPr id="21" name="Oval 20"/>
          <p:cNvSpPr/>
          <p:nvPr/>
        </p:nvSpPr>
        <p:spPr>
          <a:xfrm>
            <a:off x="9235439" y="1874519"/>
            <a:ext cx="566928" cy="566928"/>
          </a:xfrm>
          <a:prstGeom prst="ellipse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63455" y="1993392"/>
            <a:ext cx="32004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48671" y="1828800"/>
            <a:ext cx="1737360" cy="640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373739"/>
                </a:solidFill>
                <a:latin typeface="Aptos"/>
              </a:rPr>
              <a:t>Validación
experta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3154680"/>
            <a:ext cx="47091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400" y="3154680"/>
            <a:ext cx="73152" cy="123444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3319272"/>
            <a:ext cx="4297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Subejemplo ISO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3767328"/>
            <a:ext cx="4297680" cy="4846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80" b="0">
                <a:solidFill>
                  <a:srgbClr val="69696C"/>
                </a:solidFill>
                <a:latin typeface="Aptos"/>
              </a:rPr>
              <a:t>Requisitos, evidencia, cobertura, brechas y acciones de cierre.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3154680"/>
            <a:ext cx="47091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72200" y="3154680"/>
            <a:ext cx="73152" cy="1234440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3319272"/>
            <a:ext cx="4297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Subejemplo PNC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3767328"/>
            <a:ext cx="4297680" cy="4846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80" b="0">
                <a:solidFill>
                  <a:srgbClr val="69696C"/>
                </a:solidFill>
                <a:latin typeface="Aptos"/>
              </a:rPr>
              <a:t>Modelo de excelencia, fortalezas, oportunidades de mejora e insumos de evaluación.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60120" y="4892040"/>
            <a:ext cx="10149840" cy="749808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16152" y="5093207"/>
            <a:ext cx="9637776" cy="3657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La IA no reemplaza el criterio experto; lo potencia cuando trabaja sobre documentación confiable.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0120" y="4892040"/>
            <a:ext cx="73152" cy="749808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10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CASO APLICADO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Subejemplo ISO · Matriz de gaps VMOS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1627632"/>
            <a:ext cx="969264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69696C"/>
                </a:solidFill>
                <a:latin typeface="Aptos"/>
              </a:rPr>
              <a:t>Muestra real tomada de matriz-gaps-iso-vmos.xlsx · filas Excel 14 a 23 · ids 13 a 22 · cláusula 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993392"/>
            <a:ext cx="251460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993392"/>
            <a:ext cx="73152" cy="117043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157984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Alcance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606040"/>
            <a:ext cx="2103120" cy="42062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160" b="0">
                <a:solidFill>
                  <a:srgbClr val="69696C"/>
                </a:solidFill>
                <a:latin typeface="Aptos"/>
              </a:rPr>
              <a:t>10 requisitos ISO de planificación: riesgos, ambiente, SST, legales, objetivos y cambios.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20440" y="1993392"/>
            <a:ext cx="251460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20440" y="1993392"/>
            <a:ext cx="73152" cy="117043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49039" y="2157984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Resultado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606040"/>
            <a:ext cx="2103120" cy="42062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160" b="0">
                <a:solidFill>
                  <a:srgbClr val="69696C"/>
                </a:solidFill>
                <a:latin typeface="Aptos"/>
              </a:rPr>
              <a:t>3 cubiertos y 7 parciales. La matriz distingue evidencia suficiente de brechas documentales.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993392"/>
            <a:ext cx="251460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1993392"/>
            <a:ext cx="73152" cy="117043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157984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Evidencias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606040"/>
            <a:ext cx="2103120" cy="42062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140" b="0">
                <a:solidFill>
                  <a:srgbClr val="69696C"/>
                </a:solidFill>
                <a:latin typeface="Aptos"/>
              </a:rPr>
              <a:t>PRO-EXC-RIE, PRO-EXC-AMB, PRO-EXC-SOP, PRO-EXC-REQ y proceso de Excelencia.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06840" y="1993392"/>
            <a:ext cx="251460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06840" y="1993392"/>
            <a:ext cx="73152" cy="117043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2157984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Brechas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2606040"/>
            <a:ext cx="2103120" cy="42062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140" b="0">
                <a:solidFill>
                  <a:srgbClr val="69696C"/>
                </a:solidFill>
                <a:latin typeface="Aptos"/>
              </a:rPr>
              <a:t>Faltan registros/matrices integradas para aspectos, SST, objetivos SIG y cambios.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" y="3493008"/>
            <a:ext cx="1170432" cy="283464"/>
          </a:xfrm>
          <a:prstGeom prst="round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" y="3557015"/>
            <a:ext cx="1042415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Aptos"/>
              </a:rPr>
              <a:t>Cubierto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12848" y="3529584"/>
            <a:ext cx="37033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919" b="0">
                <a:solidFill>
                  <a:srgbClr val="373739"/>
                </a:solidFill>
                <a:latin typeface="Aptos"/>
              </a:rPr>
              <a:t>Riesgos y oportunidades; requisitos legales; planificación de acciones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8680" y="3895344"/>
            <a:ext cx="1170432" cy="283464"/>
          </a:xfrm>
          <a:prstGeom prst="round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3959352"/>
            <a:ext cx="1042415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Aptos"/>
              </a:rPr>
              <a:t>Parcial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12848" y="3931920"/>
            <a:ext cx="37033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919" b="0">
                <a:solidFill>
                  <a:srgbClr val="373739"/>
                </a:solidFill>
                <a:latin typeface="Aptos"/>
              </a:rPr>
              <a:t>Aspectos ambientales; peligros/riesgos/oportunidades SST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68680" y="4297680"/>
            <a:ext cx="1170432" cy="283464"/>
          </a:xfrm>
          <a:prstGeom prst="round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2688" y="4361688"/>
            <a:ext cx="1042415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Aptos"/>
              </a:rPr>
              <a:t>Parcial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12848" y="4334256"/>
            <a:ext cx="37033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919" b="0">
                <a:solidFill>
                  <a:srgbClr val="373739"/>
                </a:solidFill>
                <a:latin typeface="Aptos"/>
              </a:rPr>
              <a:t>Objetivos del sistema y planificación para lograrlos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8680" y="4700016"/>
            <a:ext cx="1170432" cy="283464"/>
          </a:xfrm>
          <a:prstGeom prst="round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2688" y="4764024"/>
            <a:ext cx="1042415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Aptos"/>
              </a:rPr>
              <a:t>Parcial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12848" y="4736592"/>
            <a:ext cx="37033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919" b="0">
                <a:solidFill>
                  <a:srgbClr val="373739"/>
                </a:solidFill>
                <a:latin typeface="Aptos"/>
              </a:rPr>
              <a:t>Gestión del cambio: consecuencias, recursos, responsables e impactos SST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72200" y="3401568"/>
            <a:ext cx="5166360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72200" y="3401568"/>
            <a:ext cx="73152" cy="1572768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3566160"/>
            <a:ext cx="47548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373739"/>
                </a:solidFill>
                <a:latin typeface="Aptos"/>
              </a:rPr>
              <a:t>Valor del agente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4014216"/>
            <a:ext cx="4754880" cy="822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19" b="0">
                <a:solidFill>
                  <a:srgbClr val="69696C"/>
                </a:solidFill>
                <a:latin typeface="Aptos"/>
              </a:rPr>
              <a:t>Identifica documentos y evidencia; ubica secciones, citas o registros; propone cobertura o brecha; justifica el criterio; ordena acciones de cierre y conserva trazabilidad para validación experta.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68680" y="5440680"/>
            <a:ext cx="10469880" cy="566928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24712" y="5641848"/>
            <a:ext cx="9957815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Mensaje para la charla: el agente acelera lectura, cruce y trazabilidad; el experto conserva el criterio de cobertura y la decisión final.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68680" y="5440680"/>
            <a:ext cx="73152" cy="566928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CASO APLICADO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Subejemplo PNC · Matriz de gaps VMOS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1627632"/>
            <a:ext cx="996696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9696C"/>
                </a:solidFill>
                <a:latin typeface="Aptos"/>
              </a:rPr>
              <a:t>Muestra real tomada de matriz-gaps-pnc-vmos.xlsx · filas Excel 14 a 22 · ids 13 a 21 · Liderazgo / Factor 1.3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1993392"/>
            <a:ext cx="251460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1993392"/>
            <a:ext cx="73152" cy="117043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157984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Alcance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606040"/>
            <a:ext cx="2103120" cy="42062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160" b="0">
                <a:solidFill>
                  <a:srgbClr val="69696C"/>
                </a:solidFill>
                <a:latin typeface="Aptos"/>
              </a:rPr>
              <a:t>9 aspectos del factor 1.3: planeamiento estratégico y operativo.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20440" y="1993392"/>
            <a:ext cx="251460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20440" y="1993392"/>
            <a:ext cx="73152" cy="117043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49039" y="2157984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Resultado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606040"/>
            <a:ext cx="2103120" cy="42062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120" b="0">
                <a:solidFill>
                  <a:srgbClr val="69696C"/>
                </a:solidFill>
                <a:latin typeface="Aptos"/>
              </a:rPr>
              <a:t>9 cubiertos, 0 parciales, 0 no cubiertos según evidencia documental cargada.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993392"/>
            <a:ext cx="251460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1993392"/>
            <a:ext cx="73152" cy="117043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157984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Evidencias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606040"/>
            <a:ext cx="2103120" cy="42062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69696C"/>
                </a:solidFill>
                <a:latin typeface="Aptos"/>
              </a:rPr>
              <a:t>Estrategia, Sustentabilidad, Finanzas, Personas, Riesgos, Comunicaciones e Innovación.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06840" y="1993392"/>
            <a:ext cx="2514600" cy="11704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06840" y="1993392"/>
            <a:ext cx="73152" cy="117043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2157984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Salida útil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2606040"/>
            <a:ext cx="2103120" cy="42062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160" b="0">
                <a:solidFill>
                  <a:srgbClr val="69696C"/>
                </a:solidFill>
                <a:latin typeface="Aptos"/>
              </a:rPr>
              <a:t>Cobertura por aspecto + fuente documental para revisión experta.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" y="3493008"/>
            <a:ext cx="1170432" cy="283464"/>
          </a:xfrm>
          <a:prstGeom prst="round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" y="3557015"/>
            <a:ext cx="1042415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Aptos"/>
              </a:rPr>
              <a:t>Cubierto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12848" y="3529584"/>
            <a:ext cx="37033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919" b="0">
                <a:solidFill>
                  <a:srgbClr val="373739"/>
                </a:solidFill>
                <a:latin typeface="Aptos"/>
              </a:rPr>
              <a:t>a-b: horizonte, información decisoria y objetivos estratégicos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8680" y="3895344"/>
            <a:ext cx="1170432" cy="283464"/>
          </a:xfrm>
          <a:prstGeom prst="round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3959352"/>
            <a:ext cx="1042415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Aptos"/>
              </a:rPr>
              <a:t>Cubierto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12848" y="3931920"/>
            <a:ext cx="37033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919" b="0">
                <a:solidFill>
                  <a:srgbClr val="373739"/>
                </a:solidFill>
                <a:latin typeface="Aptos"/>
              </a:rPr>
              <a:t>c-d: innovación y despliegue de objetivos en planes operativos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68680" y="4297680"/>
            <a:ext cx="1170432" cy="283464"/>
          </a:xfrm>
          <a:prstGeom prst="round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2688" y="4361688"/>
            <a:ext cx="1042415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Aptos"/>
              </a:rPr>
              <a:t>Cubierto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12848" y="4334256"/>
            <a:ext cx="37033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919" b="0">
                <a:solidFill>
                  <a:srgbClr val="373739"/>
                </a:solidFill>
                <a:latin typeface="Aptos"/>
              </a:rPr>
              <a:t>e-g: riesgos, recursos e indicadores clave de desempeño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8680" y="4700016"/>
            <a:ext cx="1170432" cy="283464"/>
          </a:xfrm>
          <a:prstGeom prst="round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2688" y="4764024"/>
            <a:ext cx="1042415" cy="11887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FFFFFF"/>
                </a:solidFill>
                <a:latin typeface="Aptos"/>
              </a:rPr>
              <a:t>Cubierto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12848" y="4736592"/>
            <a:ext cx="370332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919" b="0">
                <a:solidFill>
                  <a:srgbClr val="373739"/>
                </a:solidFill>
                <a:latin typeface="Aptos"/>
              </a:rPr>
              <a:t>h-i: comunicación de estrategias y revisión de planes/objetivos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72200" y="3401568"/>
            <a:ext cx="5166360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72200" y="3401568"/>
            <a:ext cx="73152" cy="1572768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3566160"/>
            <a:ext cx="47548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450" b="1">
                <a:solidFill>
                  <a:srgbClr val="373739"/>
                </a:solidFill>
                <a:latin typeface="Aptos"/>
              </a:rPr>
              <a:t>Valor del agente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4014216"/>
            <a:ext cx="4754880" cy="8229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19" b="0">
                <a:solidFill>
                  <a:srgbClr val="69696C"/>
                </a:solidFill>
                <a:latin typeface="Aptos"/>
              </a:rPr>
              <a:t>Lee el modelo; ordena evidencias por criterio, factor y aspecto; identifica cobertura documental, fuentes y trazabilidad; apoya diagnósticos y prepara insumos para revisión experta.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68680" y="5440680"/>
            <a:ext cx="10469880" cy="566928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24712" y="5641848"/>
            <a:ext cx="9957815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Mensaje para la charla: el agente ordena la cobertura PNC por aspecto; el experto conserva el juicio de madurez.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68680" y="5440680"/>
            <a:ext cx="73152" cy="566928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12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SÍNTESIS EJECUTIVA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Cierre: la secuencia de madurez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965960"/>
            <a:ext cx="29718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0" y="1965960"/>
            <a:ext cx="73152" cy="1417320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130552"/>
            <a:ext cx="25603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Información confiable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578608"/>
            <a:ext cx="2560320" cy="6675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60" b="0">
                <a:solidFill>
                  <a:srgbClr val="69696C"/>
                </a:solidFill>
                <a:latin typeface="Aptos"/>
              </a:rPr>
              <a:t>documentación vigente + datos íntegros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2450592"/>
            <a:ext cx="32004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69696C"/>
                </a:solidFill>
                <a:latin typeface="Aptos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0" y="1965960"/>
            <a:ext cx="29718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0" y="1965960"/>
            <a:ext cx="73152" cy="1417320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2130552"/>
            <a:ext cx="25603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IA con gobierno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0600" y="2578608"/>
            <a:ext cx="2560320" cy="6675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60" b="0">
                <a:solidFill>
                  <a:srgbClr val="69696C"/>
                </a:solidFill>
                <a:latin typeface="Aptos"/>
              </a:rPr>
              <a:t>fuentes, permisos, validación y trazabilidad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35240" y="2450592"/>
            <a:ext cx="320040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69696C"/>
                </a:solidFill>
                <a:latin typeface="Aptos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1965960"/>
            <a:ext cx="29718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1965960"/>
            <a:ext cx="73152" cy="1417320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58200" y="2130552"/>
            <a:ext cx="25603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373739"/>
                </a:solidFill>
                <a:latin typeface="Aptos"/>
              </a:rPr>
              <a:t>Agentes gobernados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2578608"/>
            <a:ext cx="2560320" cy="66751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60" b="0">
                <a:solidFill>
                  <a:srgbClr val="69696C"/>
                </a:solidFill>
                <a:latin typeface="Aptos"/>
              </a:rPr>
              <a:t>tareas/procesos con métricas y resultados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" y="4160520"/>
            <a:ext cx="10241280" cy="914400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70432" y="4361688"/>
            <a:ext cx="9729215" cy="5303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La pregunta directiva no es solamente qué IA vamos a usar. Es si tenemos la información, los datos y el gobierno necesarios para que la IA cree valor real.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4160520"/>
            <a:ext cx="73152" cy="914400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51560" y="5532120"/>
            <a:ext cx="996696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373739"/>
                </a:solidFill>
                <a:latin typeface="Aptos"/>
              </a:rPr>
              <a:t>EXCELENCIA prepara la base confiable para IA y diseña agentes gobernados orientados a resultados.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13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7772400" cy="29260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0ADB5"/>
                </a:solidFill>
                <a:latin typeface="Aptos"/>
              </a:rPr>
              <a:t>VALOR TANGIBLE E INTANGIBLE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85800"/>
            <a:ext cx="8961120" cy="7132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373739"/>
                </a:solidFill>
                <a:latin typeface="Aptos"/>
              </a:rPr>
              <a:t>Beneficios esperables en ISO y PNC</a:t>
            </a:r>
          </a:p>
        </p:txBody>
      </p:sp>
      <p:pic>
        <p:nvPicPr>
          <p:cNvPr id="4" name="Picture 3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58368" y="1481328"/>
            <a:ext cx="292608" cy="50292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2415" y="1481328"/>
            <a:ext cx="292608" cy="50292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426464" y="1481328"/>
            <a:ext cx="292608" cy="50292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10512" y="1481328"/>
            <a:ext cx="292608" cy="50292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77240" y="1874519"/>
            <a:ext cx="251460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874519"/>
            <a:ext cx="73152" cy="1965960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39112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Tiempo experto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487168"/>
            <a:ext cx="2103120" cy="12161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20" b="0">
                <a:solidFill>
                  <a:srgbClr val="69696C"/>
                </a:solidFill>
                <a:latin typeface="Aptos"/>
              </a:rPr>
              <a:t>Menos tiempo en búsqueda documental, lectura repetitiva, comparación y armado de matrices.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1874519"/>
            <a:ext cx="251460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20440" y="1874519"/>
            <a:ext cx="73152" cy="1965960"/>
          </a:xfrm>
          <a:prstGeom prst="rect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49039" y="2039112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Consistencia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2487168"/>
            <a:ext cx="2103120" cy="12161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20" b="0">
                <a:solidFill>
                  <a:srgbClr val="69696C"/>
                </a:solidFill>
                <a:latin typeface="Aptos"/>
              </a:rPr>
              <a:t>Mismo criterio entre filas, menor variabilidad y estructura homogénea de análisis.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874519"/>
            <a:ext cx="251460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1874519"/>
            <a:ext cx="73152" cy="1965960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2039112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Trazabilidad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487168"/>
            <a:ext cx="2103120" cy="12161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20" b="0">
                <a:solidFill>
                  <a:srgbClr val="69696C"/>
                </a:solidFill>
                <a:latin typeface="Aptos"/>
              </a:rPr>
              <a:t>Requisito o criterio → evidencia → fuente → juicio experto → acción.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06840" y="1874519"/>
            <a:ext cx="251460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E4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06840" y="1874519"/>
            <a:ext cx="73152" cy="1965960"/>
          </a:xfrm>
          <a:prstGeom prst="rect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5440" y="2039112"/>
            <a:ext cx="21031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739"/>
                </a:solidFill>
                <a:latin typeface="Aptos"/>
              </a:rPr>
              <a:t>Foco directivo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5440" y="2487168"/>
            <a:ext cx="2103120" cy="121615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220" b="0">
                <a:solidFill>
                  <a:srgbClr val="69696C"/>
                </a:solidFill>
                <a:latin typeface="Aptos"/>
              </a:rPr>
              <a:t>Más tiempo para validar, priorizar brechas, decidir y orientar planes de mejora.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8680" y="4663440"/>
            <a:ext cx="10469880" cy="841248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24712" y="4864607"/>
            <a:ext cx="9957815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El beneficio no es reemplazar al experto: es devolverle tiempo y foco para decidir mejor.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" y="4663440"/>
            <a:ext cx="73152" cy="841248"/>
          </a:xfrm>
          <a:prstGeom prst="rect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5715000"/>
            <a:ext cx="10241280" cy="25603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lnSpc>
                <a:spcPct val="100000"/>
              </a:lnSpc>
            </a:pPr>
            <a:r>
              <a:rPr sz="1280" b="0">
                <a:solidFill>
                  <a:srgbClr val="69696C"/>
                </a:solidFill>
                <a:latin typeface="Aptos"/>
              </a:rPr>
              <a:t>Aplicado a ISO y PNC: acelerar el ordenamiento de evidencia sin resignar criterio, trazabilidad ni validación humana.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14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arallelogram 1"/>
          <p:cNvSpPr/>
          <p:nvPr/>
        </p:nvSpPr>
        <p:spPr>
          <a:xfrm>
            <a:off x="8641080" y="-137160"/>
            <a:ext cx="594360" cy="7269480"/>
          </a:xfrm>
          <a:prstGeom prst="parallelogram">
            <a:avLst/>
          </a:prstGeom>
          <a:solidFill>
            <a:srgbClr val="F6BB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arallelogram 2"/>
          <p:cNvSpPr/>
          <p:nvPr/>
        </p:nvSpPr>
        <p:spPr>
          <a:xfrm>
            <a:off x="9189720" y="-137160"/>
            <a:ext cx="594360" cy="7269480"/>
          </a:xfrm>
          <a:prstGeom prst="parallelogram">
            <a:avLst/>
          </a:prstGeom>
          <a:solidFill>
            <a:srgbClr val="EF6F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arallelogram 3"/>
          <p:cNvSpPr/>
          <p:nvPr/>
        </p:nvSpPr>
        <p:spPr>
          <a:xfrm>
            <a:off x="9738360" y="-137160"/>
            <a:ext cx="594360" cy="7269480"/>
          </a:xfrm>
          <a:prstGeom prst="parallelogram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arallelogram 4"/>
          <p:cNvSpPr/>
          <p:nvPr/>
        </p:nvSpPr>
        <p:spPr>
          <a:xfrm>
            <a:off x="10287000" y="-137160"/>
            <a:ext cx="594360" cy="7269480"/>
          </a:xfrm>
          <a:prstGeom prst="parallelogram">
            <a:avLst/>
          </a:prstGeom>
          <a:solidFill>
            <a:srgbClr val="00A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xcelencia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92608"/>
            <a:ext cx="2148840" cy="53721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9808" y="777240"/>
            <a:ext cx="411480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0ADB5"/>
                </a:solidFill>
                <a:latin typeface="Aptos"/>
              </a:rPr>
              <a:t>PREGUNTA FINAL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417320"/>
            <a:ext cx="7315200" cy="182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95000"/>
              </a:lnSpc>
            </a:pPr>
            <a:r>
              <a:rPr sz="3000" b="1">
                <a:solidFill>
                  <a:srgbClr val="373739"/>
                </a:solidFill>
                <a:latin typeface="Aptos"/>
              </a:rPr>
              <a:t>Si mañana incorporáramos IA en nuestros procesos críticos, ¿trabajaría sobre la mejor versión de nuestra organización o sobre nuestro desorden documental?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" y="4251960"/>
            <a:ext cx="6949440" cy="749808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0704" y="4453128"/>
            <a:ext cx="6437375" cy="36575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5000"/>
              </a:lnSpc>
            </a:pPr>
            <a:r>
              <a:rPr sz="1800" b="1">
                <a:solidFill>
                  <a:srgbClr val="373739"/>
                </a:solidFill>
                <a:latin typeface="Aptos"/>
              </a:rPr>
              <a:t>Empezar por un diagnóstico: información confiable, datos íntegros, procesos claros y gobierno suficiente para que la IA cree valor real.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" y="4251960"/>
            <a:ext cx="73152" cy="749808"/>
          </a:xfrm>
          <a:prstGeom prst="rect">
            <a:avLst/>
          </a:prstGeom>
          <a:solidFill>
            <a:srgbClr val="D32F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650992"/>
            <a:ext cx="6858000" cy="32918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69696C"/>
                </a:solidFill>
                <a:latin typeface="Aptos"/>
              </a:rPr>
              <a:t>EXCELENCIA · Preparar la base confiable para IA y diseñar agentes gobernados orientados a resultados.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46520"/>
            <a:ext cx="40233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EXCELENCIA · IA organizacional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09960" y="6446520"/>
            <a:ext cx="41148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69696C"/>
                </a:solidFill>
                <a:latin typeface="Aptos"/>
              </a:rPr>
              <a:t>15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45936"/>
            <a:ext cx="10881360" cy="9144"/>
          </a:xfrm>
          <a:prstGeom prst="rect">
            <a:avLst/>
          </a:prstGeom>
          <a:solidFill>
            <a:srgbClr val="E1E4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