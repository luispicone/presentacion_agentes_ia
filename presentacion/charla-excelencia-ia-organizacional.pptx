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8138160" y="-137160"/>
            <a:ext cx="685800" cy="7269480"/>
          </a:xfrm>
          <a:prstGeom prst="parallelogram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823960" y="-137160"/>
            <a:ext cx="685800" cy="7269480"/>
          </a:xfrm>
          <a:prstGeom prst="parallelogram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509760" y="-137160"/>
            <a:ext cx="685800" cy="7269480"/>
          </a:xfrm>
          <a:prstGeom prst="parallelogram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10195560" y="-137160"/>
            <a:ext cx="685800" cy="7269480"/>
          </a:xfrm>
          <a:prstGeom prst="parallelogram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xcelenc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02920"/>
            <a:ext cx="2926080" cy="731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1828800"/>
            <a:ext cx="7178040" cy="1417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92000"/>
              </a:lnSpc>
            </a:pPr>
            <a:r>
              <a:rPr sz="3200" b="1">
                <a:solidFill>
                  <a:srgbClr val="373739"/>
                </a:solidFill>
                <a:latin typeface="Aptos"/>
              </a:rPr>
              <a:t>IA organizacional:
de información confiable a agentes gobernados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429000"/>
            <a:ext cx="630936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850" b="0">
                <a:solidFill>
                  <a:srgbClr val="69696C"/>
                </a:solidFill>
                <a:latin typeface="Aptos"/>
              </a:rPr>
              <a:t>Cómo preparar documentación, datos y procesos para incorporar IA con valor real.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572000"/>
            <a:ext cx="1234440" cy="438912"/>
          </a:xfrm>
          <a:prstGeom prst="round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4690872"/>
            <a:ext cx="10881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Aptos"/>
              </a:rPr>
              <a:t>30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21408" y="4572000"/>
            <a:ext cx="2286000" cy="438912"/>
          </a:xfrm>
          <a:prstGeom prst="round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4690872"/>
            <a:ext cx="213969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Aptos"/>
              </a:rPr>
              <a:t>CEOs y directores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4572000"/>
            <a:ext cx="1920240" cy="438912"/>
          </a:xfrm>
          <a:prstGeom prst="round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4690872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Aptos"/>
              </a:rPr>
              <a:t>Gestión + 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897880"/>
            <a:ext cx="429768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9696C"/>
                </a:solidFill>
                <a:latin typeface="Aptos"/>
              </a:rPr>
              <a:t>Luis Picone · EXCELENCIA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46520"/>
            <a:ext cx="4023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EXCELENCIA · IA organizacional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77724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ADB5"/>
                </a:solidFill>
                <a:latin typeface="Aptos"/>
              </a:rPr>
              <a:t>PUNTO DE PARTIDA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85800"/>
            <a:ext cx="896112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373739"/>
                </a:solidFill>
                <a:latin typeface="Aptos"/>
              </a:rPr>
              <a:t>La tesis</a:t>
            </a:r>
          </a:p>
        </p:txBody>
      </p:sp>
      <p:pic>
        <p:nvPicPr>
          <p:cNvPr id="4" name="Picture 3" descr="excelenc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92608"/>
            <a:ext cx="2148840" cy="5372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1481328"/>
            <a:ext cx="292608" cy="50292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5" y="1481328"/>
            <a:ext cx="292608" cy="50292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26464" y="1481328"/>
            <a:ext cx="292608" cy="50292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10512" y="1481328"/>
            <a:ext cx="292608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4846320" cy="141732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2167128"/>
            <a:ext cx="4334256" cy="10332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373739"/>
                </a:solidFill>
                <a:latin typeface="Aptos"/>
              </a:rPr>
              <a:t>La IA no empieza por el algoritmo ni por el agente. Empieza por la calidad de la información sobre la que va a trabajar.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965960"/>
            <a:ext cx="73152" cy="141732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80760" y="1874519"/>
            <a:ext cx="18288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1874519"/>
            <a:ext cx="73152" cy="2468880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039112"/>
            <a:ext cx="14173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373739"/>
                </a:solidFill>
                <a:latin typeface="Aptos"/>
              </a:rPr>
              <a:t>Documentación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487168"/>
            <a:ext cx="1417320" cy="17190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9696C"/>
                </a:solidFill>
                <a:latin typeface="Aptos"/>
              </a:rPr>
              <a:t>Vigente, trazable y fiel a la realidad operativa.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874519"/>
            <a:ext cx="18288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874519"/>
            <a:ext cx="73152" cy="2468880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039112"/>
            <a:ext cx="14173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373739"/>
                </a:solidFill>
                <a:latin typeface="Aptos"/>
              </a:rPr>
              <a:t>Datos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487168"/>
            <a:ext cx="1417320" cy="17190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9696C"/>
                </a:solidFill>
                <a:latin typeface="Aptos"/>
              </a:rPr>
              <a:t>Íntegros, consistentes, comparables y gobernados.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87000" y="1874519"/>
            <a:ext cx="13258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287000" y="1874519"/>
            <a:ext cx="73152" cy="2468880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0" y="2039112"/>
            <a:ext cx="914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373739"/>
                </a:solidFill>
                <a:latin typeface="Aptos"/>
              </a:rPr>
              <a:t>Gobierno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2487168"/>
            <a:ext cx="914400" cy="17190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9696C"/>
                </a:solidFill>
                <a:latin typeface="Aptos"/>
              </a:rPr>
              <a:t>Fuentes, permisos, criterios y validación.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977639"/>
            <a:ext cx="521208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  <a:defRPr sz="1650">
                <a:solidFill>
                  <a:srgbClr val="373739"/>
                </a:solidFill>
                <a:latin typeface="Aptos"/>
              </a:defRPr>
            </a:pPr>
            <a:r>
              <a:t>• Sin base confiable, la IA amplifica inconsistencias.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650">
                <a:solidFill>
                  <a:srgbClr val="373739"/>
                </a:solidFill>
                <a:latin typeface="Aptos"/>
              </a:defRPr>
            </a:pPr>
            <a:r>
              <a:t>• Con base confiable, la IA puede acelerar análisis, trazabilidad y decisiones.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46520"/>
            <a:ext cx="4023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EXCELENCIA · IA organizacional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77724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ADB5"/>
                </a:solidFill>
                <a:latin typeface="Aptos"/>
              </a:rPr>
              <a:t>BASE DOCUMENTAL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85800"/>
            <a:ext cx="896112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373739"/>
                </a:solidFill>
                <a:latin typeface="Aptos"/>
              </a:rPr>
              <a:t>Antes de IA: documentación fiel a la realidad</a:t>
            </a:r>
          </a:p>
        </p:txBody>
      </p:sp>
      <p:pic>
        <p:nvPicPr>
          <p:cNvPr id="4" name="Picture 3" descr="excelenc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92608"/>
            <a:ext cx="2148840" cy="5372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1481328"/>
            <a:ext cx="292608" cy="50292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5" y="1481328"/>
            <a:ext cx="292608" cy="50292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26464" y="1481328"/>
            <a:ext cx="292608" cy="50292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10512" y="1481328"/>
            <a:ext cx="292608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5074920" cy="3108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  <a:defRPr sz="1700">
                <a:solidFill>
                  <a:srgbClr val="373739"/>
                </a:solidFill>
                <a:latin typeface="Aptos"/>
              </a:defRPr>
            </a:pPr>
            <a:r>
              <a:t>• La documentación debe representar cómo opera realmente la organización.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700">
                <a:solidFill>
                  <a:srgbClr val="373739"/>
                </a:solidFill>
                <a:latin typeface="Aptos"/>
              </a:defRPr>
            </a:pPr>
            <a:r>
              <a:t>• Los repositorios deben ser robustos, actualizados, accesibles y trazables.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700">
                <a:solidFill>
                  <a:srgbClr val="373739"/>
                </a:solidFill>
                <a:latin typeface="Aptos"/>
              </a:defRPr>
            </a:pPr>
            <a:r>
              <a:t>• Una IA puede responder con forma profesional aunque la fuente sea débil.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700">
                <a:solidFill>
                  <a:srgbClr val="373739"/>
                </a:solidFill>
                <a:latin typeface="Aptos"/>
              </a:defRPr>
            </a:pPr>
            <a:r>
              <a:t>• Si el proceso real y el documentado no coinciden, la IA trabaja sobre una ficción ordenada.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965960"/>
            <a:ext cx="4754880" cy="114300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2167128"/>
            <a:ext cx="4242816" cy="758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373739"/>
                </a:solidFill>
                <a:latin typeface="Aptos"/>
              </a:rPr>
              <a:t>La primera pregunta no es qué IA usar. Es si existe información confiable para que la IA pueda trabajar.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965960"/>
            <a:ext cx="73152" cy="1143000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3703320"/>
            <a:ext cx="47548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3703320"/>
            <a:ext cx="73152" cy="1325880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3867911"/>
            <a:ext cx="4343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73739"/>
                </a:solidFill>
                <a:latin typeface="Aptos"/>
              </a:rPr>
              <a:t>Riesgo ejecutivo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315968"/>
            <a:ext cx="4343400" cy="5760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9696C"/>
                </a:solidFill>
                <a:latin typeface="Aptos"/>
              </a:rPr>
              <a:t>Decisiones apoyadas en documentos no vigentes, evidencia difícil de auditar y pérdida de confianza por problemas de base.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46520"/>
            <a:ext cx="4023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EXCELENCIA · IA organizacional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77724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ADB5"/>
                </a:solidFill>
                <a:latin typeface="Aptos"/>
              </a:rPr>
              <a:t>INTEGRIDAD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85800"/>
            <a:ext cx="896112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373739"/>
                </a:solidFill>
                <a:latin typeface="Aptos"/>
              </a:rPr>
              <a:t>Datos íntegros: la otra mitad de la base</a:t>
            </a:r>
          </a:p>
        </p:txBody>
      </p:sp>
      <p:pic>
        <p:nvPicPr>
          <p:cNvPr id="4" name="Picture 3" descr="excelenc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92608"/>
            <a:ext cx="2148840" cy="5372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1481328"/>
            <a:ext cx="292608" cy="50292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5" y="1481328"/>
            <a:ext cx="292608" cy="50292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26464" y="1481328"/>
            <a:ext cx="292608" cy="50292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10512" y="1481328"/>
            <a:ext cx="292608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25146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74519"/>
            <a:ext cx="73152" cy="1920240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39112"/>
            <a:ext cx="2103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373739"/>
                </a:solidFill>
                <a:latin typeface="Aptos"/>
              </a:rPr>
              <a:t>Completos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87168"/>
            <a:ext cx="2103120" cy="11704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9696C"/>
                </a:solidFill>
                <a:latin typeface="Aptos"/>
              </a:rPr>
              <a:t>Cobertura suficiente para analizar sin sesgos críticos.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874519"/>
            <a:ext cx="25146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1874519"/>
            <a:ext cx="73152" cy="1920240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2039112"/>
            <a:ext cx="2103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373739"/>
                </a:solidFill>
                <a:latin typeface="Aptos"/>
              </a:rPr>
              <a:t>Consistentes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487168"/>
            <a:ext cx="2103120" cy="11704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9696C"/>
                </a:solidFill>
                <a:latin typeface="Aptos"/>
              </a:rPr>
              <a:t>Mismas reglas, definiciones y criterios entre áreas.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874519"/>
            <a:ext cx="25146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874519"/>
            <a:ext cx="73152" cy="1920240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039112"/>
            <a:ext cx="2103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373739"/>
                </a:solidFill>
                <a:latin typeface="Aptos"/>
              </a:rPr>
              <a:t>Trazables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487168"/>
            <a:ext cx="2103120" cy="11704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9696C"/>
                </a:solidFill>
                <a:latin typeface="Aptos"/>
              </a:rPr>
              <a:t>Origen, responsable, actualización y evidencia.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874519"/>
            <a:ext cx="25146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874519"/>
            <a:ext cx="73152" cy="192024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2039112"/>
            <a:ext cx="2103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373739"/>
                </a:solidFill>
                <a:latin typeface="Aptos"/>
              </a:rPr>
              <a:t>Gobernados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487168"/>
            <a:ext cx="2103120" cy="11704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9696C"/>
                </a:solidFill>
                <a:latin typeface="Aptos"/>
              </a:rPr>
              <a:t>Permisos, usos, controles y validación.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4434840"/>
            <a:ext cx="9966960" cy="96012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53312" y="4636007"/>
            <a:ext cx="9454896" cy="5760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373739"/>
                </a:solidFill>
                <a:latin typeface="Aptos"/>
              </a:rPr>
              <a:t>La IA puede acelerar análisis; no puede reemplazar la responsabilidad organizacional sobre la calidad de los datos.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4434840"/>
            <a:ext cx="73152" cy="96012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6446520"/>
            <a:ext cx="4023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EXCELENCIA · IA organizacional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77724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ADB5"/>
                </a:solidFill>
                <a:latin typeface="Aptos"/>
              </a:rPr>
              <a:t>RIESGO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85800"/>
            <a:ext cx="896112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373739"/>
                </a:solidFill>
                <a:latin typeface="Aptos"/>
              </a:rPr>
              <a:t>El riesgo de incorporar IA sobre una base débil</a:t>
            </a:r>
          </a:p>
        </p:txBody>
      </p:sp>
      <p:pic>
        <p:nvPicPr>
          <p:cNvPr id="4" name="Picture 3" descr="excelenc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92608"/>
            <a:ext cx="2148840" cy="5372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1481328"/>
            <a:ext cx="292608" cy="50292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5" y="1481328"/>
            <a:ext cx="292608" cy="50292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26464" y="1481328"/>
            <a:ext cx="292608" cy="50292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10512" y="1481328"/>
            <a:ext cx="292608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246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74519"/>
            <a:ext cx="73152" cy="868680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39112"/>
            <a:ext cx="283463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73739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87168"/>
            <a:ext cx="2834639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9696C"/>
                </a:solidFill>
                <a:latin typeface="Aptos"/>
              </a:rPr>
              <a:t>Automatizar errores existentes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874519"/>
            <a:ext cx="3246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59" y="1874519"/>
            <a:ext cx="73152" cy="868680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2039112"/>
            <a:ext cx="283463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73739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2487168"/>
            <a:ext cx="2834639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9696C"/>
                </a:solidFill>
                <a:latin typeface="Aptos"/>
              </a:rPr>
              <a:t>Dar velocidad a procesos mal definidos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874519"/>
            <a:ext cx="3246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874519"/>
            <a:ext cx="73152" cy="868680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039112"/>
            <a:ext cx="283463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73739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487168"/>
            <a:ext cx="2834639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9696C"/>
                </a:solidFill>
                <a:latin typeface="Aptos"/>
              </a:rPr>
              <a:t>Usar documentos no vigentes como fuente de verdad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108960"/>
            <a:ext cx="3246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108960"/>
            <a:ext cx="73152" cy="86868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273552"/>
            <a:ext cx="283463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73739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21608"/>
            <a:ext cx="2834639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9696C"/>
                </a:solidFill>
                <a:latin typeface="Aptos"/>
              </a:rPr>
              <a:t>Mezclar criterios entre áreas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3108960"/>
            <a:ext cx="3246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59" y="3108960"/>
            <a:ext cx="73152" cy="868680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59" y="3273552"/>
            <a:ext cx="283463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73739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59" y="3721608"/>
            <a:ext cx="2834639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9696C"/>
                </a:solidFill>
                <a:latin typeface="Aptos"/>
              </a:rPr>
              <a:t>Exponer información sensible sin permisos claros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3108960"/>
            <a:ext cx="3246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79" y="3108960"/>
            <a:ext cx="73152" cy="868680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3273552"/>
            <a:ext cx="283463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73739"/>
                </a:solidFill>
                <a:latin typeface="Apto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721608"/>
            <a:ext cx="2834639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9696C"/>
                </a:solidFill>
                <a:latin typeface="Aptos"/>
              </a:rPr>
              <a:t>Generar respuestas difíciles de validar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" y="4983480"/>
            <a:ext cx="10149840" cy="749808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16152" y="5184648"/>
            <a:ext cx="9637776" cy="3657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373739"/>
                </a:solidFill>
                <a:latin typeface="Aptos"/>
              </a:rPr>
              <a:t>Sin base confiable, la IA no transforma la organización: amplifica sus inconsistencias.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" y="4983480"/>
            <a:ext cx="73152" cy="749808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6446520"/>
            <a:ext cx="4023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EXCELENCIA · IA organizacional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05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77724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ADB5"/>
                </a:solidFill>
                <a:latin typeface="Aptos"/>
              </a:rPr>
              <a:t>ROL DE EXCELENCIA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85800"/>
            <a:ext cx="896112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373739"/>
                </a:solidFill>
                <a:latin typeface="Aptos"/>
              </a:rPr>
              <a:t>Dónde puede ayudar EXCELENCIA antes del agente</a:t>
            </a:r>
          </a:p>
        </p:txBody>
      </p:sp>
      <p:pic>
        <p:nvPicPr>
          <p:cNvPr id="4" name="Picture 3" descr="excelenc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92608"/>
            <a:ext cx="2148840" cy="5372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1481328"/>
            <a:ext cx="292608" cy="50292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5" y="1481328"/>
            <a:ext cx="292608" cy="50292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26464" y="1481328"/>
            <a:ext cx="292608" cy="50292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10512" y="1481328"/>
            <a:ext cx="292608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148840"/>
            <a:ext cx="2331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148840"/>
            <a:ext cx="73152" cy="1645920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313432"/>
            <a:ext cx="192023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73739"/>
                </a:solidFill>
                <a:latin typeface="Aptos"/>
              </a:rPr>
              <a:t>Diagnosticar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761488"/>
            <a:ext cx="1920239" cy="8961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9696C"/>
                </a:solidFill>
                <a:latin typeface="Aptos"/>
              </a:rPr>
              <a:t>madurez documental y de 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8688" y="2697480"/>
            <a:ext cx="3200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69696C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2148840"/>
            <a:ext cx="2331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0" y="2148840"/>
            <a:ext cx="73152" cy="1645920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2313432"/>
            <a:ext cx="192023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73739"/>
                </a:solidFill>
                <a:latin typeface="Aptos"/>
              </a:rPr>
              <a:t>Ordenar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761488"/>
            <a:ext cx="1920239" cy="8961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9696C"/>
                </a:solidFill>
                <a:latin typeface="Aptos"/>
              </a:rPr>
              <a:t>repositorios, procesos y fuentes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2697480"/>
            <a:ext cx="3200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69696C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2148840"/>
            <a:ext cx="2331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92240" y="2148840"/>
            <a:ext cx="73152" cy="1645920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2313432"/>
            <a:ext cx="192023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73739"/>
                </a:solidFill>
                <a:latin typeface="Aptos"/>
              </a:rPr>
              <a:t>Gobernar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761488"/>
            <a:ext cx="1920239" cy="8961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9696C"/>
                </a:solidFill>
                <a:latin typeface="Aptos"/>
              </a:rPr>
              <a:t>criterios, permisos, validación y riesgos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8" y="2697480"/>
            <a:ext cx="3200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69696C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2148840"/>
            <a:ext cx="2331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26880" y="2148840"/>
            <a:ext cx="73152" cy="164592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55480" y="2313432"/>
            <a:ext cx="192023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73739"/>
                </a:solidFill>
                <a:latin typeface="Aptos"/>
              </a:rPr>
              <a:t>Priorizar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761488"/>
            <a:ext cx="1920239" cy="8961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9696C"/>
                </a:solidFill>
                <a:latin typeface="Aptos"/>
              </a:rPr>
              <a:t>casos de uso por valor y criticidad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" y="4617720"/>
            <a:ext cx="10149840" cy="82296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16152" y="4818888"/>
            <a:ext cx="9637776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373739"/>
                </a:solidFill>
                <a:latin typeface="Aptos"/>
              </a:rPr>
              <a:t>Antes de diseñar agentes, hay que preparar el terreno: documentación, datos, procesos, criterios y gobierno.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4617720"/>
            <a:ext cx="73152" cy="82296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446520"/>
            <a:ext cx="4023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EXCELENCIA · IA organizacional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06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77724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ADB5"/>
                </a:solidFill>
                <a:latin typeface="Aptos"/>
              </a:rPr>
              <a:t>MADUREZ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85800"/>
            <a:ext cx="896112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373739"/>
                </a:solidFill>
                <a:latin typeface="Aptos"/>
              </a:rPr>
              <a:t>De usar IA a diseñar Agentes de IA</a:t>
            </a:r>
          </a:p>
        </p:txBody>
      </p:sp>
      <p:pic>
        <p:nvPicPr>
          <p:cNvPr id="4" name="Picture 3" descr="excelenc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92608"/>
            <a:ext cx="2148840" cy="5372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1481328"/>
            <a:ext cx="292608" cy="50292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5" y="1481328"/>
            <a:ext cx="292608" cy="50292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26464" y="1481328"/>
            <a:ext cx="292608" cy="50292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10512" y="1481328"/>
            <a:ext cx="292608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874519"/>
            <a:ext cx="32461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874519"/>
            <a:ext cx="73152" cy="2423160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039112"/>
            <a:ext cx="283463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73739"/>
                </a:solidFill>
                <a:latin typeface="Aptos"/>
              </a:rPr>
              <a:t>Uso puntual de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487168"/>
            <a:ext cx="2834639" cy="1673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20" b="0">
                <a:solidFill>
                  <a:srgbClr val="69696C"/>
                </a:solidFill>
                <a:latin typeface="Aptos"/>
              </a:rPr>
              <a:t>Una persona pregunta, obtiene una respuesta y resuelve una tarea aislada.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874519"/>
            <a:ext cx="32461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874519"/>
            <a:ext cx="73152" cy="2423160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2039112"/>
            <a:ext cx="283463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73739"/>
                </a:solidFill>
                <a:latin typeface="Aptos"/>
              </a:rPr>
              <a:t>IA asistida con buena 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487168"/>
            <a:ext cx="2834639" cy="1673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20" b="0">
                <a:solidFill>
                  <a:srgbClr val="69696C"/>
                </a:solidFill>
                <a:latin typeface="Aptos"/>
              </a:rPr>
              <a:t>La organización usa fuentes confiables y criterios comunes.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874519"/>
            <a:ext cx="32461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874519"/>
            <a:ext cx="73152" cy="242316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039112"/>
            <a:ext cx="283463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73739"/>
                </a:solidFill>
                <a:latin typeface="Aptos"/>
              </a:rPr>
              <a:t>Agente de IA gobernado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487168"/>
            <a:ext cx="2834639" cy="1673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30" b="0">
                <a:solidFill>
                  <a:srgbClr val="69696C"/>
                </a:solidFill>
                <a:latin typeface="Aptos"/>
              </a:rPr>
              <a:t>Sistema diseñado para una tarea o proceso, con propósito, fuentes, reglas, herramientas, límites, trazabilidad, validación y métricas.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4892040"/>
            <a:ext cx="9555480" cy="749808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9032" y="5093207"/>
            <a:ext cx="9043415" cy="3657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373739"/>
                </a:solidFill>
                <a:latin typeface="Aptos"/>
              </a:rPr>
              <a:t>El agente no es el primer paso. Es el paso superador cuando la organización ya sabe qué información, proceso y criterio quiere gobernar.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4892040"/>
            <a:ext cx="73152" cy="749808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446520"/>
            <a:ext cx="4023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EXCELENCIA · IA organizacional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07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77724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ADB5"/>
                </a:solidFill>
                <a:latin typeface="Aptos"/>
              </a:rPr>
              <a:t>ALCANCE POTENCIAL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85800"/>
            <a:ext cx="896112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373739"/>
                </a:solidFill>
                <a:latin typeface="Aptos"/>
              </a:rPr>
              <a:t>Procesos donde la IA puede agregar valor</a:t>
            </a:r>
          </a:p>
        </p:txBody>
      </p:sp>
      <p:pic>
        <p:nvPicPr>
          <p:cNvPr id="4" name="Picture 3" descr="excelenc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92608"/>
            <a:ext cx="2148840" cy="5372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1481328"/>
            <a:ext cx="292608" cy="50292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5" y="1481328"/>
            <a:ext cx="292608" cy="50292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26464" y="1481328"/>
            <a:ext cx="292608" cy="50292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10512" y="1481328"/>
            <a:ext cx="292608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2450592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65960"/>
            <a:ext cx="22311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73739"/>
                </a:solidFill>
                <a:latin typeface="Aptos"/>
              </a:rPr>
              <a:t>Dirección y gobierno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828800"/>
            <a:ext cx="2450592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1965960"/>
            <a:ext cx="22311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73739"/>
                </a:solidFill>
                <a:latin typeface="Aptos"/>
              </a:rPr>
              <a:t>Estrategia y planeamiento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828800"/>
            <a:ext cx="2450592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965960"/>
            <a:ext cx="22311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73739"/>
                </a:solidFill>
                <a:latin typeface="Aptos"/>
              </a:rPr>
              <a:t>Calidad y sistemas de gestión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1828800"/>
            <a:ext cx="2450592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0888" y="1965960"/>
            <a:ext cx="22311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73739"/>
                </a:solidFill>
                <a:latin typeface="Aptos"/>
              </a:rPr>
              <a:t>Operaciones y seguridad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578608"/>
            <a:ext cx="2450592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2715768"/>
            <a:ext cx="22311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73739"/>
                </a:solidFill>
                <a:latin typeface="Aptos"/>
              </a:rPr>
              <a:t>Comercial y clientes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11880" y="2578608"/>
            <a:ext cx="2450592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21608" y="2715768"/>
            <a:ext cx="22311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73739"/>
                </a:solidFill>
                <a:latin typeface="Aptos"/>
              </a:rPr>
              <a:t>Finanzas y control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2578608"/>
            <a:ext cx="2450592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2715768"/>
            <a:ext cx="22311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73739"/>
                </a:solidFill>
                <a:latin typeface="Aptos"/>
              </a:rPr>
              <a:t>Legales y compliance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2578608"/>
            <a:ext cx="2450592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90888" y="2715768"/>
            <a:ext cx="22311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73739"/>
                </a:solidFill>
                <a:latin typeface="Aptos"/>
              </a:rPr>
              <a:t>Personas y cultura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328415"/>
            <a:ext cx="2450592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3465575"/>
            <a:ext cx="22311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73739"/>
                </a:solidFill>
                <a:latin typeface="Aptos"/>
              </a:rPr>
              <a:t>Tecnología y software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11880" y="3328415"/>
            <a:ext cx="2450592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21608" y="3465575"/>
            <a:ext cx="22311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73739"/>
                </a:solidFill>
                <a:latin typeface="Aptos"/>
              </a:rPr>
              <a:t>Compras y proveedores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3328415"/>
            <a:ext cx="2450592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6248" y="3465575"/>
            <a:ext cx="22311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73739"/>
                </a:solidFill>
                <a:latin typeface="Aptos"/>
              </a:rPr>
              <a:t>Comunicación y sostenibilidad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81160" y="3328415"/>
            <a:ext cx="2450592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90888" y="3465575"/>
            <a:ext cx="22311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73739"/>
                </a:solidFill>
                <a:latin typeface="Aptos"/>
              </a:rPr>
              <a:t>Gestión documental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" y="4754880"/>
            <a:ext cx="10149840" cy="841248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16152" y="4956048"/>
            <a:ext cx="9637776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373739"/>
                </a:solidFill>
                <a:latin typeface="Aptos"/>
              </a:rPr>
              <a:t>La pregunta relevante no es si la IA puede aportar valor, sino qué información necesita, qué tarea conviene delegar, con qué autonomía y con qué controles.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" y="4754880"/>
            <a:ext cx="73152" cy="84124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6446520"/>
            <a:ext cx="4023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EXCELENCIA · IA organizacional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08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77724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ADB5"/>
                </a:solidFill>
                <a:latin typeface="Aptos"/>
              </a:rPr>
              <a:t>CASO APLICADO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85800"/>
            <a:ext cx="896112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373739"/>
                </a:solidFill>
                <a:latin typeface="Aptos"/>
              </a:rPr>
              <a:t>Caso 1 · Documentación, calidad, ISO y PNC</a:t>
            </a:r>
          </a:p>
        </p:txBody>
      </p:sp>
      <p:pic>
        <p:nvPicPr>
          <p:cNvPr id="4" name="Picture 3" descr="excelenc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92608"/>
            <a:ext cx="2148840" cy="5372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1481328"/>
            <a:ext cx="292608" cy="50292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5" y="1481328"/>
            <a:ext cx="292608" cy="50292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26464" y="1481328"/>
            <a:ext cx="292608" cy="50292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10512" y="1481328"/>
            <a:ext cx="292608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874519"/>
            <a:ext cx="566928" cy="566928"/>
          </a:xfrm>
          <a:prstGeom prst="ellipse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1993392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1828800"/>
            <a:ext cx="173736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373739"/>
                </a:solidFill>
                <a:latin typeface="Aptos"/>
              </a:rPr>
              <a:t>Base documental
analizable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2029968"/>
            <a:ext cx="25603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69696C"/>
                </a:solidFill>
                <a:latin typeface="Aptos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3657600" y="1874519"/>
            <a:ext cx="566928" cy="566928"/>
          </a:xfrm>
          <a:prstGeom prst="ellipse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5615" y="1993392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1828800"/>
            <a:ext cx="173736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373739"/>
                </a:solidFill>
                <a:latin typeface="Aptos"/>
              </a:rPr>
              <a:t>Cruce contra
ISO y PNC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0176" y="2029968"/>
            <a:ext cx="25603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69696C"/>
                </a:solidFill>
                <a:latin typeface="Aptos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6446520" y="1874519"/>
            <a:ext cx="566928" cy="566928"/>
          </a:xfrm>
          <a:prstGeom prst="ellipse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4536" y="1993392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9752" y="1828800"/>
            <a:ext cx="173736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373739"/>
                </a:solidFill>
                <a:latin typeface="Aptos"/>
              </a:rPr>
              <a:t>Evidencias, brechas
y acciones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9096" y="2029968"/>
            <a:ext cx="25603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69696C"/>
                </a:solidFill>
                <a:latin typeface="Aptos"/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9235439" y="1874519"/>
            <a:ext cx="566928" cy="566928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63455" y="1993392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48671" y="1828800"/>
            <a:ext cx="173736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373739"/>
                </a:solidFill>
                <a:latin typeface="Aptos"/>
              </a:rPr>
              <a:t>Validación
experta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063240"/>
            <a:ext cx="4892040" cy="155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  <a:defRPr sz="1550">
                <a:solidFill>
                  <a:srgbClr val="373739"/>
                </a:solidFill>
                <a:latin typeface="Aptos"/>
              </a:defRPr>
            </a:pPr>
            <a:r>
              <a:t>• Velocidad en lectura sistemática.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550">
                <a:solidFill>
                  <a:srgbClr val="373739"/>
                </a:solidFill>
                <a:latin typeface="Aptos"/>
              </a:defRPr>
            </a:pPr>
            <a:r>
              <a:t>• Trazabilidad entre requisito y evidencia.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550">
                <a:solidFill>
                  <a:srgbClr val="373739"/>
                </a:solidFill>
                <a:latin typeface="Aptos"/>
              </a:defRPr>
            </a:pPr>
            <a:r>
              <a:t>• Mayor consistencia para matrices complejas.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971800"/>
            <a:ext cx="4846320" cy="141732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3172968"/>
            <a:ext cx="4334256" cy="10332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373739"/>
                </a:solidFill>
                <a:latin typeface="Aptos"/>
              </a:rPr>
              <a:t>La IA no reemplaza el criterio experto; lo potencia cuando trabaja sobre documentación confiable.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971800"/>
            <a:ext cx="73152" cy="1417320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6446520"/>
            <a:ext cx="4023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EXCELENCIA · IA organizacional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09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77724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ADB5"/>
                </a:solidFill>
                <a:latin typeface="Aptos"/>
              </a:rPr>
              <a:t>CASO APLICADO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85800"/>
            <a:ext cx="896112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373739"/>
                </a:solidFill>
                <a:latin typeface="Aptos"/>
              </a:rPr>
              <a:t>Caso 2 · Software y productividad aumentada</a:t>
            </a:r>
          </a:p>
        </p:txBody>
      </p:sp>
      <p:pic>
        <p:nvPicPr>
          <p:cNvPr id="4" name="Picture 3" descr="excelenc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92608"/>
            <a:ext cx="2148840" cy="5372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1481328"/>
            <a:ext cx="292608" cy="50292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5" y="1481328"/>
            <a:ext cx="292608" cy="50292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26464" y="1481328"/>
            <a:ext cx="292608" cy="50292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10512" y="1481328"/>
            <a:ext cx="292608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74519"/>
            <a:ext cx="73152" cy="219456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39112"/>
            <a:ext cx="2880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73739"/>
                </a:solidFill>
                <a:latin typeface="Aptos"/>
              </a:rPr>
              <a:t>Base necesaria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87168"/>
            <a:ext cx="2880360" cy="1444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9696C"/>
                </a:solidFill>
                <a:latin typeface="Aptos"/>
              </a:rPr>
              <a:t>Requerimientos claros, documentación técnica, estándares de arquitectura, revisión, testing y trazabilidad.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874519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874519"/>
            <a:ext cx="73152" cy="2194560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39112"/>
            <a:ext cx="2880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73739"/>
                </a:solidFill>
                <a:latin typeface="Aptos"/>
              </a:rPr>
              <a:t>Nuevo rol del developer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487168"/>
            <a:ext cx="2880360" cy="1444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9696C"/>
                </a:solidFill>
                <a:latin typeface="Aptos"/>
              </a:rPr>
              <a:t>Coordina agentes para análisis, documentación, código, testing, bugs, logs e incidentes.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874519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874519"/>
            <a:ext cx="73152" cy="2194560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039112"/>
            <a:ext cx="2880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73739"/>
                </a:solidFill>
                <a:latin typeface="Aptos"/>
              </a:rPr>
              <a:t>Resultado buscado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487168"/>
            <a:ext cx="2880360" cy="1444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9696C"/>
                </a:solidFill>
                <a:latin typeface="Aptos"/>
              </a:rPr>
              <a:t>Más capacidad de entrega, menos tarea repetitiva y mejor aprovechamiento del talento crítico.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4800600"/>
            <a:ext cx="10104120" cy="77724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61872" y="5001768"/>
            <a:ext cx="9592056" cy="3931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373739"/>
                </a:solidFill>
                <a:latin typeface="Aptos"/>
              </a:rPr>
              <a:t>El agente no reemplaza al talento crítico; lo eleva y multiplica su capacidad cuando existe método, estándares y validación.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4800600"/>
            <a:ext cx="73152" cy="77724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446520"/>
            <a:ext cx="4023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EXCELENCIA · IA organizacional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77724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ADB5"/>
                </a:solidFill>
                <a:latin typeface="Aptos"/>
              </a:rPr>
              <a:t>SÍNTESIS EJECUTIVA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85800"/>
            <a:ext cx="896112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373739"/>
                </a:solidFill>
                <a:latin typeface="Aptos"/>
              </a:rPr>
              <a:t>Cierre: la secuencia de madurez</a:t>
            </a:r>
          </a:p>
        </p:txBody>
      </p:sp>
      <p:pic>
        <p:nvPicPr>
          <p:cNvPr id="4" name="Picture 3" descr="excelenc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92608"/>
            <a:ext cx="2148840" cy="5372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1481328"/>
            <a:ext cx="292608" cy="50292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5" y="1481328"/>
            <a:ext cx="292608" cy="50292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26464" y="1481328"/>
            <a:ext cx="292608" cy="50292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10512" y="1481328"/>
            <a:ext cx="292608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65960"/>
            <a:ext cx="2971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965960"/>
            <a:ext cx="73152" cy="1417320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130552"/>
            <a:ext cx="25603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373739"/>
                </a:solidFill>
                <a:latin typeface="Aptos"/>
              </a:rPr>
              <a:t>Información confiable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578608"/>
            <a:ext cx="2560320" cy="6675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60" b="0">
                <a:solidFill>
                  <a:srgbClr val="69696C"/>
                </a:solidFill>
                <a:latin typeface="Aptos"/>
              </a:rPr>
              <a:t>documentación vigente + datos íntegros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450592"/>
            <a:ext cx="320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69696C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965960"/>
            <a:ext cx="2971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965960"/>
            <a:ext cx="73152" cy="1417320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2130552"/>
            <a:ext cx="25603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373739"/>
                </a:solidFill>
                <a:latin typeface="Aptos"/>
              </a:rPr>
              <a:t>IA con gobierno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578608"/>
            <a:ext cx="2560320" cy="6675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60" b="0">
                <a:solidFill>
                  <a:srgbClr val="69696C"/>
                </a:solidFill>
                <a:latin typeface="Aptos"/>
              </a:rPr>
              <a:t>fuentes, permisos, validación y trazabilidad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450592"/>
            <a:ext cx="320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69696C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965960"/>
            <a:ext cx="2971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965960"/>
            <a:ext cx="73152" cy="1417320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2130552"/>
            <a:ext cx="25603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373739"/>
                </a:solidFill>
                <a:latin typeface="Aptos"/>
              </a:rPr>
              <a:t>Agentes gobernados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578608"/>
            <a:ext cx="2560320" cy="6675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60" b="0">
                <a:solidFill>
                  <a:srgbClr val="69696C"/>
                </a:solidFill>
                <a:latin typeface="Aptos"/>
              </a:rPr>
              <a:t>tareas/procesos con métricas y resultados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160520"/>
            <a:ext cx="10241280" cy="91440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4361688"/>
            <a:ext cx="9729215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373739"/>
                </a:solidFill>
                <a:latin typeface="Aptos"/>
              </a:rPr>
              <a:t>La pregunta directiva no es solamente qué IA vamos a usar. Es si tenemos la información, los datos y el gobierno necesarios para que la IA cree valor real.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160520"/>
            <a:ext cx="73152" cy="914400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532120"/>
            <a:ext cx="9966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373739"/>
                </a:solidFill>
                <a:latin typeface="Aptos"/>
              </a:rPr>
              <a:t>EXCELENCIA prepara la base confiable para IA y diseña agentes gobernados orientados a resultados.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46520"/>
            <a:ext cx="4023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EXCELENCIA · IA organizacional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11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